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304" r:id="rId4"/>
    <p:sldId id="298" r:id="rId5"/>
    <p:sldId id="305" r:id="rId6"/>
    <p:sldId id="303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39B0D4"/>
    <a:srgbClr val="6D4C41"/>
    <a:srgbClr val="81C78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7AB73-4EE8-4E67-B8FD-63EF2646ECA1}" v="7" dt="2025-10-25T12:10:47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DC619-45C3-DC0D-9499-EF1FC781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2981DAC-02E9-75FC-A072-8E005A540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EECB6D4-BC2A-B924-9867-72DCF1947A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FF1CCF8-6834-EFB9-77D6-CFA501A21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403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.pn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3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2.png"/><Relationship Id="rId10" Type="http://schemas.openxmlformats.org/officeDocument/2006/relationships/image" Target="../media/image30.png"/><Relationship Id="rId19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5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11" Type="http://schemas.openxmlformats.org/officeDocument/2006/relationships/image" Target="../media/image57.jpe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9432236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fao.org/newsroom/detail/ai-can-be-a-game-changing-solution-for-farmers--fao-innovation-chief/e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issan.ai/" TargetMode="External"/><Relationship Id="rId5" Type="http://schemas.openxmlformats.org/officeDocument/2006/relationships/hyperlink" Target="https://kisansamadhan.com/" TargetMode="External"/><Relationship Id="rId10" Type="http://schemas.openxmlformats.org/officeDocument/2006/relationships/hyperlink" Target="https://www.sciencedirect.com/science/article/pii/S2666351124000147" TargetMode="External"/><Relationship Id="rId4" Type="http://schemas.openxmlformats.org/officeDocument/2006/relationships/hyperlink" Target="https://inlsoftware.inl.gov/product/cropaiq" TargetMode="External"/><Relationship Id="rId9" Type="http://schemas.openxmlformats.org/officeDocument/2006/relationships/hyperlink" Target="https://ieeexplore.ieee.org/document/101429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89353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49778" y="238306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39" y="728296"/>
            <a:ext cx="6815506" cy="59995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30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IN" sz="2300" b="1">
                <a:latin typeface="Arial"/>
                <a:ea typeface="ＭＳ Ｐゴシック"/>
                <a:cs typeface="Arial"/>
              </a:rPr>
              <a:t>SIH25044</a:t>
            </a:r>
            <a:endParaRPr lang="en-US" sz="2300" b="1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>
                <a:latin typeface="Arial"/>
                <a:ea typeface="ＭＳ Ｐゴシック"/>
                <a:cs typeface="Arial"/>
              </a:rPr>
              <a:t>Problem Statement-AI-Powered Crop Yield Prediction and Optimization</a:t>
            </a:r>
            <a:endParaRPr lang="en-US" sz="23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err="1">
                <a:latin typeface="Arial"/>
                <a:ea typeface="ＭＳ Ｐゴシック"/>
                <a:cs typeface="Arial"/>
              </a:rPr>
              <a:t>Theme-Agriculture,Foodtech&amp;Rural</a:t>
            </a:r>
            <a:r>
              <a:rPr lang="en-US" sz="2300" b="1">
                <a:latin typeface="Arial"/>
                <a:ea typeface="ＭＳ Ｐゴシック"/>
                <a:cs typeface="Arial"/>
              </a:rPr>
              <a:t> </a:t>
            </a:r>
            <a:r>
              <a:rPr lang="en-US" sz="2300" b="1" err="1">
                <a:latin typeface="Arial"/>
                <a:ea typeface="ＭＳ Ｐゴシック"/>
                <a:cs typeface="Arial"/>
              </a:rPr>
              <a:t>Devlopement</a:t>
            </a:r>
            <a:endParaRPr lang="en-US" sz="2300" b="1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>
                <a:latin typeface="Arial"/>
                <a:ea typeface="ＭＳ Ｐゴシック"/>
                <a:cs typeface="Arial"/>
              </a:rPr>
              <a:t>PS Category- Software</a:t>
            </a:r>
            <a:endParaRPr lang="en-US" sz="23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>
                <a:latin typeface="Arial"/>
                <a:ea typeface="ＭＳ Ｐゴシック"/>
                <a:cs typeface="Arial"/>
              </a:rPr>
              <a:t>Team ID-83032</a:t>
            </a:r>
            <a:endParaRPr lang="en-US" sz="23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>
                <a:latin typeface="Arial"/>
                <a:ea typeface="ＭＳ Ｐゴシック"/>
                <a:cs typeface="Arial"/>
              </a:rPr>
              <a:t>Team Name- Kisan Sarthi</a:t>
            </a:r>
            <a:endParaRPr lang="en-IN" sz="23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>
          <a:xfrm>
            <a:off x="0" y="-47625"/>
            <a:ext cx="10972800" cy="816599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2A61D-08DE-2E53-7802-7FCEF2E56FB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34027" y="1519868"/>
            <a:ext cx="5403850" cy="4748213"/>
          </a:xfrm>
        </p:spPr>
        <p:txBody>
          <a:bodyPr/>
          <a:lstStyle/>
          <a:p>
            <a:r>
              <a:rPr lang="en-US" sz="1500" b="1">
                <a:latin typeface="Times New Roman"/>
                <a:ea typeface="ＭＳ Ｐゴシック"/>
              </a:rPr>
              <a:t>AI-powered Yield Prediction</a:t>
            </a:r>
            <a:r>
              <a:rPr lang="en-US" sz="1500">
                <a:latin typeface="Times New Roman"/>
                <a:ea typeface="ＭＳ Ｐゴシック"/>
              </a:rPr>
              <a:t> – Regression + Neural Net models forecast yield with high accuracy, reducing uncertainty</a:t>
            </a:r>
            <a:endParaRPr lang="en-US"/>
          </a:p>
          <a:p>
            <a:r>
              <a:rPr lang="en-US" sz="1500" b="1">
                <a:latin typeface="Times New Roman"/>
                <a:ea typeface="ＭＳ Ｐゴシック"/>
              </a:rPr>
              <a:t>Smart Crop Recommendation</a:t>
            </a:r>
            <a:r>
              <a:rPr lang="en-US" sz="1500">
                <a:latin typeface="Times New Roman"/>
                <a:ea typeface="ＭＳ Ｐゴシック"/>
              </a:rPr>
              <a:t> – Suggests the most suitable crops by analyzing soil NPK, soil type, weather, and water resources.</a:t>
            </a:r>
          </a:p>
          <a:p>
            <a:r>
              <a:rPr lang="en-US" sz="1500" b="1">
                <a:latin typeface="Times New Roman"/>
                <a:ea typeface="ＭＳ Ｐゴシック"/>
              </a:rPr>
              <a:t>Resource Optimization Engine</a:t>
            </a:r>
            <a:r>
              <a:rPr lang="en-US" sz="1500">
                <a:latin typeface="Times New Roman"/>
                <a:ea typeface="ＭＳ Ｐゴシック"/>
              </a:rPr>
              <a:t> – Provides personalized irrigation, fertilizer, and pesticide schedules to minimize cost and maximize yield.</a:t>
            </a:r>
          </a:p>
          <a:p>
            <a:r>
              <a:rPr lang="en-US" sz="1500" b="1">
                <a:latin typeface="Times New Roman"/>
                <a:ea typeface="ＭＳ Ｐゴシック"/>
              </a:rPr>
              <a:t>AI Disease &amp; Pest Detection</a:t>
            </a:r>
            <a:r>
              <a:rPr lang="en-US" sz="1500">
                <a:latin typeface="Times New Roman"/>
                <a:ea typeface="ＭＳ Ｐゴシック"/>
              </a:rPr>
              <a:t> – Farmers upload images of affected crops; the system diagnoses problems and suggests remedies instantly.</a:t>
            </a:r>
          </a:p>
          <a:p>
            <a:r>
              <a:rPr lang="en-US" sz="1500" b="1">
                <a:latin typeface="Times New Roman"/>
                <a:ea typeface="ＭＳ Ｐゴシック"/>
              </a:rPr>
              <a:t>Personalized Farming Calendar</a:t>
            </a:r>
            <a:r>
              <a:rPr lang="en-US" sz="1500">
                <a:latin typeface="Times New Roman"/>
                <a:ea typeface="ＭＳ Ｐゴシック"/>
              </a:rPr>
              <a:t> – Auto-updated schedules for irrigation, fertilizers, and pesticides tailored to each farmer’s land and crop.</a:t>
            </a:r>
          </a:p>
          <a:p>
            <a:r>
              <a:rPr lang="en-US" sz="1500" b="1">
                <a:latin typeface="Times New Roman"/>
                <a:ea typeface="ＭＳ Ｐゴシック"/>
              </a:rPr>
              <a:t>Chatbot Advisor</a:t>
            </a:r>
            <a:r>
              <a:rPr lang="en-US" sz="1500">
                <a:latin typeface="Times New Roman"/>
                <a:ea typeface="ＭＳ Ｐゴシック"/>
              </a:rPr>
              <a:t> – A 24/7 virtual Krishi assistant providing answers in commonly used languages.</a:t>
            </a:r>
          </a:p>
          <a:p>
            <a:r>
              <a:rPr lang="en-US" sz="1500" b="1">
                <a:latin typeface="Times New Roman"/>
                <a:ea typeface="ＭＳ Ｐゴシック"/>
              </a:rPr>
              <a:t>Sustainability Insights</a:t>
            </a:r>
            <a:r>
              <a:rPr lang="en-US" sz="1500">
                <a:latin typeface="Times New Roman"/>
                <a:ea typeface="ＭＳ Ｐゴシック"/>
              </a:rPr>
              <a:t> – Tracks water saved, fertilizer reduced, and carbon footprint to promote eco-friendly farming practices.</a:t>
            </a:r>
            <a:r>
              <a:rPr lang="en-US" sz="1500">
                <a:latin typeface="Times New Roman"/>
                <a:ea typeface="ＭＳ Ｐゴシック"/>
                <a:cs typeface="Arial"/>
              </a:rPr>
              <a:t> </a:t>
            </a:r>
          </a:p>
          <a:p>
            <a:endParaRPr lang="en-IN" sz="1500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992217"/>
            <a:ext cx="1219199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>
                <a:latin typeface="Times New Roman"/>
                <a:ea typeface="ＭＳ Ｐゴシック"/>
                <a:cs typeface="Arial"/>
              </a:rPr>
              <a:t>Proposed</a:t>
            </a:r>
            <a:r>
              <a:rPr lang="en-US" sz="3200" b="1">
                <a:latin typeface="Times New Roman"/>
                <a:ea typeface="ＭＳ Ｐゴシック"/>
                <a:cs typeface="Arial"/>
              </a:rPr>
              <a:t> </a:t>
            </a:r>
            <a:r>
              <a:rPr lang="en-US" sz="3200" b="1" u="sng">
                <a:latin typeface="Times New Roman"/>
                <a:ea typeface="ＭＳ Ｐゴシック"/>
                <a:cs typeface="Arial"/>
              </a:rPr>
              <a:t>Solution</a:t>
            </a:r>
            <a:r>
              <a:rPr lang="en-US" sz="3200" b="1">
                <a:latin typeface="Times New Roman"/>
                <a:ea typeface="ＭＳ Ｐゴシック"/>
                <a:cs typeface="Arial"/>
              </a:rPr>
              <a:t>:</a:t>
            </a:r>
            <a:endParaRPr lang="en-US" sz="3200"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3678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Kisan </a:t>
            </a:r>
            <a:r>
              <a:rPr lang="en-US" err="1"/>
              <a:t>Sarthi</a:t>
            </a:r>
            <a:endParaRPr lang="en-IN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87E4DE-6EAB-ACCA-7DF1-527DD5E7BA58}"/>
              </a:ext>
            </a:extLst>
          </p:cNvPr>
          <p:cNvSpPr/>
          <p:nvPr/>
        </p:nvSpPr>
        <p:spPr>
          <a:xfrm>
            <a:off x="6058373" y="868350"/>
            <a:ext cx="1262050" cy="689212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F16B6-77BE-FA49-B733-EF01122DE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64" y="1195742"/>
            <a:ext cx="353494" cy="351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9E9E49-63BB-A8A3-CBEE-65B989338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111" y="1619914"/>
            <a:ext cx="548054" cy="548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6BA8C3-A4AD-F6CD-8F6A-9CE1BEDCF3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02" y="810377"/>
            <a:ext cx="397481" cy="397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6D3B92-DD34-EC5F-9145-DBD4FF7F15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112" y="1190186"/>
            <a:ext cx="381511" cy="381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30444-7085-8795-0849-01D339E15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189" y="1217206"/>
            <a:ext cx="301973" cy="3544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F9F3D0-BD5C-4FE1-D96C-ED29A47373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690" y="887002"/>
            <a:ext cx="298843" cy="2988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7F5CFD-E855-BB3B-D5C2-A49AEFA598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152" y="797776"/>
            <a:ext cx="397801" cy="3622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E48E30-8DB7-EB20-320D-ADBE11B52D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442" y="1671770"/>
            <a:ext cx="726078" cy="4597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E5DAD0-01FE-BFED-AC2D-F8F7A4A535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312" y="1640467"/>
            <a:ext cx="501347" cy="5013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C9A63B-B623-AD47-DEBE-2A5E48024BB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731" y="1141845"/>
            <a:ext cx="368002" cy="36800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FC3E2C-1E1F-3111-74B2-44852A94CCE4}"/>
              </a:ext>
            </a:extLst>
          </p:cNvPr>
          <p:cNvSpPr/>
          <p:nvPr/>
        </p:nvSpPr>
        <p:spPr>
          <a:xfrm>
            <a:off x="9612005" y="2266882"/>
            <a:ext cx="2363686" cy="2943922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r"/>
            <a:endParaRPr lang="en-IN" sz="1600" b="1"/>
          </a:p>
          <a:p>
            <a:pPr algn="r"/>
            <a:endParaRPr lang="en-IN" sz="1100" b="1"/>
          </a:p>
          <a:p>
            <a:pPr algn="r"/>
            <a:r>
              <a:rPr lang="en-IN" sz="1100" b="1"/>
              <a:t>Cloud Services </a:t>
            </a:r>
            <a:endParaRPr lang="en-IN" sz="1100" b="1">
              <a:ea typeface="Calibri"/>
              <a:cs typeface="Calibri"/>
            </a:endParaRPr>
          </a:p>
          <a:p>
            <a:pPr algn="r"/>
            <a:r>
              <a:rPr lang="en-IN" sz="1100"/>
              <a:t> </a:t>
            </a:r>
            <a:endParaRPr lang="en-IN" sz="1100">
              <a:ea typeface="Calibri"/>
              <a:cs typeface="Calibri"/>
            </a:endParaRPr>
          </a:p>
          <a:p>
            <a:pPr algn="r"/>
            <a:r>
              <a:rPr lang="en-IN" sz="1100" b="1"/>
              <a:t>Email Services</a:t>
            </a:r>
            <a:endParaRPr lang="en-IN" sz="1100" b="1">
              <a:ea typeface="Calibri"/>
              <a:cs typeface="Calibri"/>
            </a:endParaRPr>
          </a:p>
          <a:p>
            <a:pPr algn="r"/>
            <a:endParaRPr lang="en-IN" sz="1100" b="1"/>
          </a:p>
          <a:p>
            <a:pPr algn="r"/>
            <a:r>
              <a:rPr lang="en-IN" sz="1100" b="1"/>
              <a:t>Auth Service</a:t>
            </a:r>
            <a:endParaRPr lang="en-IN" sz="1100" b="1">
              <a:ea typeface="Calibri"/>
              <a:cs typeface="Calibri"/>
            </a:endParaRPr>
          </a:p>
          <a:p>
            <a:pPr algn="r"/>
            <a:endParaRPr lang="en-IN" sz="1100" b="1"/>
          </a:p>
          <a:p>
            <a:pPr algn="r"/>
            <a:r>
              <a:rPr lang="en-IN" sz="1100" b="1"/>
              <a:t>Web Analytics</a:t>
            </a:r>
            <a:endParaRPr lang="en-IN" sz="1100" b="1">
              <a:ea typeface="Calibri"/>
              <a:cs typeface="Calibri"/>
            </a:endParaRPr>
          </a:p>
          <a:p>
            <a:pPr algn="r"/>
            <a:endParaRPr lang="en-IN" sz="1100" b="1"/>
          </a:p>
          <a:p>
            <a:r>
              <a:rPr lang="en-IN" sz="1100" b="1"/>
              <a:t>                                   Weather API</a:t>
            </a:r>
            <a:endParaRPr lang="en-IN" sz="1100" b="1">
              <a:ea typeface="Calibri"/>
              <a:cs typeface="Calibri"/>
            </a:endParaRPr>
          </a:p>
          <a:p>
            <a:endParaRPr lang="en-IN" sz="1100" b="1"/>
          </a:p>
          <a:p>
            <a:r>
              <a:rPr lang="en-IN" sz="1100" b="1"/>
              <a:t>                                        Image </a:t>
            </a:r>
            <a:endParaRPr lang="en-IN" sz="1100" b="1">
              <a:ea typeface="Calibri"/>
              <a:cs typeface="Calibri"/>
            </a:endParaRPr>
          </a:p>
          <a:p>
            <a:r>
              <a:rPr lang="en-IN" sz="1100" b="1"/>
              <a:t>                                Recognition API</a:t>
            </a:r>
            <a:endParaRPr lang="en-IN" sz="1100" b="1">
              <a:ea typeface="Calibri"/>
              <a:cs typeface="Calibri"/>
            </a:endParaRPr>
          </a:p>
          <a:p>
            <a:endParaRPr lang="en-IN" sz="1100"/>
          </a:p>
          <a:p>
            <a:pPr algn="r"/>
            <a:r>
              <a:rPr lang="en-IN" sz="1100" b="1"/>
              <a:t>       Translation/Chatbot API</a:t>
            </a:r>
            <a:endParaRPr lang="en-IN" sz="1100" b="1">
              <a:ea typeface="Calibri"/>
              <a:cs typeface="Calibri"/>
            </a:endParaRPr>
          </a:p>
          <a:p>
            <a:pPr algn="r"/>
            <a:endParaRPr lang="en-IN" sz="1400" b="1"/>
          </a:p>
          <a:p>
            <a:pPr algn="r"/>
            <a:endParaRPr lang="en-IN" sz="1600" b="1"/>
          </a:p>
          <a:p>
            <a:pPr algn="r"/>
            <a:endParaRPr lang="en-IN" sz="1600" b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31F2C3-008F-372A-D9B7-C5A1BD51C6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596" y="3449051"/>
            <a:ext cx="650846" cy="2243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537BCF-0557-013C-6E7C-129362D13D5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422" y="3137936"/>
            <a:ext cx="256256" cy="2562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B8E5A7-A0D0-6AC4-3518-6CE0D8ACC11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839" y="2588069"/>
            <a:ext cx="549587" cy="5495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60271D8-6139-E7BA-3EC2-1EDD283E6C8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703" y="2404544"/>
            <a:ext cx="443860" cy="2468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16C9EDC-248C-0E11-D203-FB9B7C29B1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784" y="4496741"/>
            <a:ext cx="400951" cy="4009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68CC6AF-A049-A66B-E8C2-78973133B9A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500" y="4031665"/>
            <a:ext cx="632264" cy="5526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05D0C-7582-2B35-DA8B-D03ABFD7C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839" y="3592308"/>
            <a:ext cx="632264" cy="63226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58DC058-E584-75E0-E687-E4AFA1CD2C14}"/>
              </a:ext>
            </a:extLst>
          </p:cNvPr>
          <p:cNvGrpSpPr/>
          <p:nvPr/>
        </p:nvGrpSpPr>
        <p:grpSpPr>
          <a:xfrm>
            <a:off x="5799696" y="2756638"/>
            <a:ext cx="936941" cy="2308504"/>
            <a:chOff x="1079269" y="3028128"/>
            <a:chExt cx="1657786" cy="1435992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60E41A0-8563-3CA2-7445-178C91A8DF8B}"/>
                </a:ext>
              </a:extLst>
            </p:cNvPr>
            <p:cNvSpPr/>
            <p:nvPr/>
          </p:nvSpPr>
          <p:spPr>
            <a:xfrm>
              <a:off x="1115840" y="3028128"/>
              <a:ext cx="1621215" cy="1435992"/>
            </a:xfrm>
            <a:prstGeom prst="round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FD33BE-9082-E587-436F-077D195B7328}"/>
                </a:ext>
              </a:extLst>
            </p:cNvPr>
            <p:cNvSpPr txBox="1"/>
            <p:nvPr/>
          </p:nvSpPr>
          <p:spPr>
            <a:xfrm>
              <a:off x="1079269" y="3139870"/>
              <a:ext cx="1657784" cy="1227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/>
                <a:t>Farmers</a:t>
              </a:r>
            </a:p>
            <a:p>
              <a:pPr algn="ctr"/>
              <a:endParaRPr lang="en-IN" sz="1200"/>
            </a:p>
            <a:p>
              <a:pPr algn="ctr"/>
              <a:endParaRPr lang="en-IN" sz="1200"/>
            </a:p>
            <a:p>
              <a:pPr algn="ctr"/>
              <a:endParaRPr lang="en-IN" sz="1200"/>
            </a:p>
            <a:p>
              <a:pPr algn="ctr"/>
              <a:r>
                <a:rPr lang="en-IN" sz="1200" b="1"/>
                <a:t>Govt. Admins</a:t>
              </a:r>
            </a:p>
            <a:p>
              <a:pPr algn="ctr"/>
              <a:endParaRPr lang="en-IN" sz="1200"/>
            </a:p>
            <a:p>
              <a:pPr algn="ctr"/>
              <a:endParaRPr lang="en-IN" sz="1200"/>
            </a:p>
            <a:p>
              <a:pPr algn="ctr"/>
              <a:r>
                <a:rPr lang="en-IN" sz="1200" b="1"/>
                <a:t>System Admin</a:t>
              </a:r>
              <a:r>
                <a:rPr lang="en-IN" sz="1200"/>
                <a:t> </a:t>
              </a:r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34EDCBF-A1EF-EEDF-F55F-B964E2078A73}"/>
              </a:ext>
            </a:extLst>
          </p:cNvPr>
          <p:cNvSpPr/>
          <p:nvPr/>
        </p:nvSpPr>
        <p:spPr>
          <a:xfrm>
            <a:off x="7353406" y="2429802"/>
            <a:ext cx="1534774" cy="2714652"/>
          </a:xfrm>
          <a:prstGeom prst="roundRect">
            <a:avLst>
              <a:gd name="adj" fmla="val 27343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numCol="1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Upload crop images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View predictions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Get alerts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Enter soil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Oversee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Validate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Generate policy insights.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Manage database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b="1"/>
              <a:t>APIs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9C6B81A-D36F-0819-AD41-05C6894AE7A6}"/>
              </a:ext>
            </a:extLst>
          </p:cNvPr>
          <p:cNvCxnSpPr>
            <a:cxnSpLocks/>
          </p:cNvCxnSpPr>
          <p:nvPr/>
        </p:nvCxnSpPr>
        <p:spPr>
          <a:xfrm>
            <a:off x="7367080" y="3574101"/>
            <a:ext cx="1543857" cy="67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DC4624-7354-0A22-7670-7AC708808D96}"/>
              </a:ext>
            </a:extLst>
          </p:cNvPr>
          <p:cNvCxnSpPr>
            <a:cxnSpLocks/>
          </p:cNvCxnSpPr>
          <p:nvPr/>
        </p:nvCxnSpPr>
        <p:spPr>
          <a:xfrm>
            <a:off x="7344323" y="4319329"/>
            <a:ext cx="15438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636EDA6-8D39-C61F-A19A-738C5C6FB4E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06870"/>
            <a:ext cx="372634" cy="372634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800B7C-0F0F-A3E1-26C7-85EC5CC538D0}"/>
              </a:ext>
            </a:extLst>
          </p:cNvPr>
          <p:cNvSpPr/>
          <p:nvPr/>
        </p:nvSpPr>
        <p:spPr>
          <a:xfrm>
            <a:off x="5751871" y="5300965"/>
            <a:ext cx="6400801" cy="10396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00"/>
              <a:t>• </a:t>
            </a:r>
            <a:r>
              <a:rPr lang="en-IN" sz="1000" b="1"/>
              <a:t>Crop Recommendation Module 	           •</a:t>
            </a:r>
            <a:r>
              <a:rPr lang="en-IN" sz="1000"/>
              <a:t> </a:t>
            </a:r>
            <a:r>
              <a:rPr lang="en-IN" sz="1000" b="1"/>
              <a:t>Yield Prediction Module	•</a:t>
            </a:r>
            <a:r>
              <a:rPr lang="en-US" sz="1000"/>
              <a:t> </a:t>
            </a:r>
            <a:r>
              <a:rPr lang="en-US" sz="1000" b="1"/>
              <a:t>Resource Optimization Engine </a:t>
            </a:r>
          </a:p>
          <a:p>
            <a:pPr algn="ctr"/>
            <a:r>
              <a:rPr lang="en-US" sz="1000" b="1"/>
              <a:t>•</a:t>
            </a:r>
            <a:r>
              <a:rPr lang="en-IN" sz="1000"/>
              <a:t> </a:t>
            </a:r>
            <a:r>
              <a:rPr lang="en-IN" sz="1000" b="1"/>
              <a:t>Disease &amp; Pest Detection</a:t>
            </a:r>
          </a:p>
          <a:p>
            <a:r>
              <a:rPr lang="en-IN" sz="1000" b="1"/>
              <a:t>•</a:t>
            </a:r>
            <a:r>
              <a:rPr lang="en-IN" sz="1000"/>
              <a:t> </a:t>
            </a:r>
            <a:r>
              <a:rPr lang="en-IN" sz="1000" b="1"/>
              <a:t>Personalized Farming Calendar          •</a:t>
            </a:r>
            <a:r>
              <a:rPr lang="en-IN" sz="1000"/>
              <a:t> </a:t>
            </a:r>
            <a:r>
              <a:rPr lang="en-IN" sz="1000" b="1"/>
              <a:t>Alerts &amp; Notifications</a:t>
            </a:r>
            <a:r>
              <a:rPr lang="en-IN" sz="1000"/>
              <a:t>     • </a:t>
            </a:r>
            <a:r>
              <a:rPr lang="en-IN" sz="1000" b="1"/>
              <a:t>Sustainability Tracking     </a:t>
            </a:r>
            <a:r>
              <a:rPr lang="en-IN" sz="1000"/>
              <a:t>• </a:t>
            </a:r>
            <a:r>
              <a:rPr lang="en-IN" sz="1000" b="1"/>
              <a:t>Chatbot Advisor </a:t>
            </a:r>
            <a:endParaRPr lang="en-IN" sz="100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29DE5D-13CB-F189-9916-E59E7142B1BB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8589165" y="1891141"/>
            <a:ext cx="949147" cy="2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51">
            <a:extLst>
              <a:ext uri="{FF2B5EF4-FFF2-40B4-BE49-F238E27FC236}">
                <a16:creationId xmlns:a16="http://schemas.microsoft.com/office/drawing/2014/main" id="{D983C004-80B3-CD4C-A63B-568A1CE0197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320423" y="1212956"/>
            <a:ext cx="986845" cy="473442"/>
          </a:xfrm>
          <a:prstGeom prst="bentConnector3">
            <a:avLst>
              <a:gd name="adj1" fmla="val 100813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ABC5F6-BEAB-1F51-73A9-70E24B08F3A5}"/>
              </a:ext>
            </a:extLst>
          </p:cNvPr>
          <p:cNvCxnSpPr>
            <a:stCxn id="5" idx="1"/>
            <a:endCxn id="34" idx="3"/>
          </p:cNvCxnSpPr>
          <p:nvPr/>
        </p:nvCxnSpPr>
        <p:spPr>
          <a:xfrm flipH="1" flipV="1">
            <a:off x="6468633" y="1893187"/>
            <a:ext cx="1572478" cy="7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FC5E56-52C4-AFFC-9566-5169D7ED9A4B}"/>
              </a:ext>
            </a:extLst>
          </p:cNvPr>
          <p:cNvCxnSpPr>
            <a:cxnSpLocks/>
          </p:cNvCxnSpPr>
          <p:nvPr/>
        </p:nvCxnSpPr>
        <p:spPr>
          <a:xfrm>
            <a:off x="6752690" y="3068830"/>
            <a:ext cx="6143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6A64C93-200F-1694-AE24-E73576626343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736636" y="3922728"/>
            <a:ext cx="6304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51A684-6DC1-8B2B-C59B-47E17EBDEDE3}"/>
              </a:ext>
            </a:extLst>
          </p:cNvPr>
          <p:cNvCxnSpPr>
            <a:cxnSpLocks/>
          </p:cNvCxnSpPr>
          <p:nvPr/>
        </p:nvCxnSpPr>
        <p:spPr>
          <a:xfrm>
            <a:off x="6718392" y="4575694"/>
            <a:ext cx="6486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55E435-8E74-A78A-7939-FE61587D36FE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10039659" y="1891141"/>
            <a:ext cx="515783" cy="1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E448CC-1BE3-8399-6D51-53B22D0E6D4F}"/>
              </a:ext>
            </a:extLst>
          </p:cNvPr>
          <p:cNvCxnSpPr>
            <a:cxnSpLocks/>
            <a:stCxn id="34" idx="2"/>
            <a:endCxn id="29" idx="0"/>
          </p:cNvCxnSpPr>
          <p:nvPr/>
        </p:nvCxnSpPr>
        <p:spPr>
          <a:xfrm flipH="1">
            <a:off x="6278501" y="2079504"/>
            <a:ext cx="3815" cy="677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86">
            <a:extLst>
              <a:ext uri="{FF2B5EF4-FFF2-40B4-BE49-F238E27FC236}">
                <a16:creationId xmlns:a16="http://schemas.microsoft.com/office/drawing/2014/main" id="{57456DDB-7AC4-1B6D-BC3C-DBF8DB5297DE}"/>
              </a:ext>
            </a:extLst>
          </p:cNvPr>
          <p:cNvCxnSpPr>
            <a:cxnSpLocks/>
            <a:stCxn id="18" idx="0"/>
            <a:endCxn id="19" idx="1"/>
          </p:cNvCxnSpPr>
          <p:nvPr/>
        </p:nvCxnSpPr>
        <p:spPr>
          <a:xfrm rot="5400000" flipH="1" flipV="1">
            <a:off x="10358048" y="756785"/>
            <a:ext cx="314621" cy="14527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7FDBB6-5C2D-B7D1-4DEB-1F957838C517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918481" y="2131492"/>
            <a:ext cx="0" cy="90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E8A47412-13FE-B201-7394-9A4A9929C3B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550" y="1561634"/>
            <a:ext cx="302077" cy="30207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98761D4-0A64-C745-5244-6B18D6DA02B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62" y="1918049"/>
            <a:ext cx="499376" cy="30604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E5E61F3-9298-2322-F696-78A42CE4711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493" y="946439"/>
            <a:ext cx="379408" cy="379408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BA7425C-FDDA-50B9-4B33-6BF1A15EDBB5}"/>
              </a:ext>
            </a:extLst>
          </p:cNvPr>
          <p:cNvSpPr/>
          <p:nvPr/>
        </p:nvSpPr>
        <p:spPr>
          <a:xfrm>
            <a:off x="7735236" y="433383"/>
            <a:ext cx="2105264" cy="2727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System Architecture</a:t>
            </a:r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A90F81D-0D12-6F12-1467-EE8240BA9D96}"/>
              </a:ext>
            </a:extLst>
          </p:cNvPr>
          <p:cNvSpPr/>
          <p:nvPr/>
        </p:nvSpPr>
        <p:spPr>
          <a:xfrm>
            <a:off x="7889249" y="5237334"/>
            <a:ext cx="2191413" cy="27636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Functional Modules</a:t>
            </a:r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178056-27FD-AF4C-D366-C2FB1147C264}"/>
              </a:ext>
            </a:extLst>
          </p:cNvPr>
          <p:cNvSpPr txBox="1"/>
          <p:nvPr/>
        </p:nvSpPr>
        <p:spPr>
          <a:xfrm>
            <a:off x="9876049" y="1123855"/>
            <a:ext cx="1068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Data </a:t>
            </a:r>
            <a:r>
              <a:rPr lang="en-IN" sz="1000" b="1"/>
              <a:t>Retrieval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CC11E3-93DE-8114-6CBF-3D2B90B4533E}"/>
              </a:ext>
            </a:extLst>
          </p:cNvPr>
          <p:cNvSpPr txBox="1"/>
          <p:nvPr/>
        </p:nvSpPr>
        <p:spPr>
          <a:xfrm>
            <a:off x="7393289" y="1166938"/>
            <a:ext cx="1090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Client Req/res</a:t>
            </a:r>
            <a:endParaRPr lang="en-IN" sz="10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D3D34A-D95E-5908-E233-3E8AA43B118E}"/>
              </a:ext>
            </a:extLst>
          </p:cNvPr>
          <p:cNvSpPr txBox="1"/>
          <p:nvPr/>
        </p:nvSpPr>
        <p:spPr>
          <a:xfrm>
            <a:off x="6618858" y="1712672"/>
            <a:ext cx="10230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Authentication</a:t>
            </a:r>
            <a:endParaRPr lang="en-IN" sz="105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A1A2E1-AD6F-2192-EB13-22072BDFB468}"/>
              </a:ext>
            </a:extLst>
          </p:cNvPr>
          <p:cNvSpPr txBox="1"/>
          <p:nvPr/>
        </p:nvSpPr>
        <p:spPr>
          <a:xfrm>
            <a:off x="7963118" y="2068012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Web-App</a:t>
            </a:r>
            <a:endParaRPr lang="en-IN" sz="1100" b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B7E15D-E244-E909-2EA4-312DFFDE5251}"/>
              </a:ext>
            </a:extLst>
          </p:cNvPr>
          <p:cNvSpPr txBox="1"/>
          <p:nvPr/>
        </p:nvSpPr>
        <p:spPr>
          <a:xfrm>
            <a:off x="9524536" y="2044755"/>
            <a:ext cx="5597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Server</a:t>
            </a:r>
            <a:endParaRPr lang="en-IN" sz="1100" b="1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FAF177-95BD-41C4-B272-C1002980E26B}"/>
              </a:ext>
            </a:extLst>
          </p:cNvPr>
          <p:cNvSpPr txBox="1"/>
          <p:nvPr/>
        </p:nvSpPr>
        <p:spPr>
          <a:xfrm>
            <a:off x="8580550" y="1677075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Server Req/Res</a:t>
            </a:r>
            <a:endParaRPr lang="en-IN" sz="1100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2E95B8-CBF1-2135-3355-F1AC13EF7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>
          <a:xfrm>
            <a:off x="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Kisan </a:t>
            </a:r>
            <a:r>
              <a:rPr lang="en-US" err="1"/>
              <a:t>Sarthi</a:t>
            </a:r>
            <a:endParaRPr lang="en-IN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96" name="Terminator 38">
            <a:extLst>
              <a:ext uri="{FF2B5EF4-FFF2-40B4-BE49-F238E27FC236}">
                <a16:creationId xmlns:a16="http://schemas.microsoft.com/office/drawing/2014/main" id="{F213C443-E77E-1F25-CB66-5944309E21EB}"/>
              </a:ext>
            </a:extLst>
          </p:cNvPr>
          <p:cNvSpPr/>
          <p:nvPr/>
        </p:nvSpPr>
        <p:spPr>
          <a:xfrm>
            <a:off x="10449717" y="4998998"/>
            <a:ext cx="1722616" cy="94206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Recommended Measures and steps to be followed for optimum result</a:t>
            </a:r>
          </a:p>
        </p:txBody>
      </p:sp>
      <p:sp>
        <p:nvSpPr>
          <p:cNvPr id="17497" name="Alternative Process 3">
            <a:extLst>
              <a:ext uri="{FF2B5EF4-FFF2-40B4-BE49-F238E27FC236}">
                <a16:creationId xmlns:a16="http://schemas.microsoft.com/office/drawing/2014/main" id="{1295C332-524A-80BE-5F30-AF46CB59BE8F}"/>
              </a:ext>
            </a:extLst>
          </p:cNvPr>
          <p:cNvSpPr/>
          <p:nvPr/>
        </p:nvSpPr>
        <p:spPr>
          <a:xfrm>
            <a:off x="5462843" y="1845918"/>
            <a:ext cx="1011082" cy="953332"/>
          </a:xfrm>
          <a:prstGeom prst="flowChartAlternateProcess">
            <a:avLst/>
          </a:prstGeom>
          <a:solidFill>
            <a:srgbClr val="81C7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Database</a:t>
            </a:r>
          </a:p>
        </p:txBody>
      </p:sp>
      <p:cxnSp>
        <p:nvCxnSpPr>
          <p:cNvPr id="17498" name="Straight Arrow Connector 17497">
            <a:extLst>
              <a:ext uri="{FF2B5EF4-FFF2-40B4-BE49-F238E27FC236}">
                <a16:creationId xmlns:a16="http://schemas.microsoft.com/office/drawing/2014/main" id="{3B78BF86-F30A-B247-29FE-74E643CB91BC}"/>
              </a:ext>
            </a:extLst>
          </p:cNvPr>
          <p:cNvCxnSpPr>
            <a:cxnSpLocks/>
          </p:cNvCxnSpPr>
          <p:nvPr/>
        </p:nvCxnSpPr>
        <p:spPr>
          <a:xfrm>
            <a:off x="5968384" y="1485015"/>
            <a:ext cx="0" cy="360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99" name="Alternative Process 6">
            <a:extLst>
              <a:ext uri="{FF2B5EF4-FFF2-40B4-BE49-F238E27FC236}">
                <a16:creationId xmlns:a16="http://schemas.microsoft.com/office/drawing/2014/main" id="{D60C86EC-6783-0882-317A-DCFF0BF171A7}"/>
              </a:ext>
            </a:extLst>
          </p:cNvPr>
          <p:cNvSpPr/>
          <p:nvPr/>
        </p:nvSpPr>
        <p:spPr>
          <a:xfrm>
            <a:off x="5454785" y="847050"/>
            <a:ext cx="1008609" cy="637965"/>
          </a:xfrm>
          <a:prstGeom prst="flowChartAlternateProcess">
            <a:avLst/>
          </a:prstGeom>
          <a:solidFill>
            <a:srgbClr val="81C7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Historical crop data(From Govt  Database)</a:t>
            </a:r>
          </a:p>
        </p:txBody>
      </p:sp>
      <p:sp>
        <p:nvSpPr>
          <p:cNvPr id="17500" name="Alternative Process 7">
            <a:extLst>
              <a:ext uri="{FF2B5EF4-FFF2-40B4-BE49-F238E27FC236}">
                <a16:creationId xmlns:a16="http://schemas.microsoft.com/office/drawing/2014/main" id="{483C397B-0B11-C0CC-0587-E13EF52D3E86}"/>
              </a:ext>
            </a:extLst>
          </p:cNvPr>
          <p:cNvSpPr/>
          <p:nvPr/>
        </p:nvSpPr>
        <p:spPr>
          <a:xfrm>
            <a:off x="6674738" y="1166032"/>
            <a:ext cx="1008609" cy="442618"/>
          </a:xfrm>
          <a:prstGeom prst="flowChartAlternateProcess">
            <a:avLst/>
          </a:prstGeom>
          <a:solidFill>
            <a:srgbClr val="81C7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Real time weather data</a:t>
            </a:r>
          </a:p>
        </p:txBody>
      </p:sp>
      <p:sp>
        <p:nvSpPr>
          <p:cNvPr id="17501" name="Alternative Process 8">
            <a:extLst>
              <a:ext uri="{FF2B5EF4-FFF2-40B4-BE49-F238E27FC236}">
                <a16:creationId xmlns:a16="http://schemas.microsoft.com/office/drawing/2014/main" id="{977EA625-4533-B5E3-D5F2-77396057BBCF}"/>
              </a:ext>
            </a:extLst>
          </p:cNvPr>
          <p:cNvSpPr/>
          <p:nvPr/>
        </p:nvSpPr>
        <p:spPr>
          <a:xfrm>
            <a:off x="6691856" y="1763400"/>
            <a:ext cx="1008609" cy="894554"/>
          </a:xfrm>
          <a:prstGeom prst="flowChartAlternateProcess">
            <a:avLst/>
          </a:prstGeom>
          <a:solidFill>
            <a:srgbClr val="81C7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Real time soil health metrics(IOT sensors and regular lab reports)</a:t>
            </a:r>
          </a:p>
        </p:txBody>
      </p:sp>
      <p:cxnSp>
        <p:nvCxnSpPr>
          <p:cNvPr id="17502" name="Straight Arrow Connector 17501">
            <a:extLst>
              <a:ext uri="{FF2B5EF4-FFF2-40B4-BE49-F238E27FC236}">
                <a16:creationId xmlns:a16="http://schemas.microsoft.com/office/drawing/2014/main" id="{96F408F9-1E82-71F2-67F7-C6CB4D2F7589}"/>
              </a:ext>
            </a:extLst>
          </p:cNvPr>
          <p:cNvCxnSpPr>
            <a:cxnSpLocks/>
          </p:cNvCxnSpPr>
          <p:nvPr/>
        </p:nvCxnSpPr>
        <p:spPr>
          <a:xfrm flipH="1">
            <a:off x="6399710" y="1583753"/>
            <a:ext cx="292146" cy="29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3" name="Straight Arrow Connector 17502">
            <a:extLst>
              <a:ext uri="{FF2B5EF4-FFF2-40B4-BE49-F238E27FC236}">
                <a16:creationId xmlns:a16="http://schemas.microsoft.com/office/drawing/2014/main" id="{D014185F-0FBF-92C0-189E-30B2A50A28AD}"/>
              </a:ext>
            </a:extLst>
          </p:cNvPr>
          <p:cNvCxnSpPr>
            <a:cxnSpLocks/>
            <a:stCxn id="17501" idx="1"/>
          </p:cNvCxnSpPr>
          <p:nvPr/>
        </p:nvCxnSpPr>
        <p:spPr>
          <a:xfrm flipH="1">
            <a:off x="6463394" y="2210677"/>
            <a:ext cx="228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04" name="Rounded Rectangle 13">
            <a:extLst>
              <a:ext uri="{FF2B5EF4-FFF2-40B4-BE49-F238E27FC236}">
                <a16:creationId xmlns:a16="http://schemas.microsoft.com/office/drawing/2014/main" id="{7355E3AB-4071-EAD3-A66A-AE78D4FB23BD}"/>
              </a:ext>
            </a:extLst>
          </p:cNvPr>
          <p:cNvSpPr/>
          <p:nvPr/>
        </p:nvSpPr>
        <p:spPr>
          <a:xfrm>
            <a:off x="5434361" y="3235060"/>
            <a:ext cx="1068046" cy="823951"/>
          </a:xfrm>
          <a:prstGeom prst="roundRect">
            <a:avLst/>
          </a:prstGeom>
          <a:solidFill>
            <a:srgbClr val="81C7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Data Processor</a:t>
            </a:r>
          </a:p>
          <a:p>
            <a:pPr algn="ctr"/>
            <a:r>
              <a:rPr lang="en-US" sz="1000" b="1">
                <a:solidFill>
                  <a:schemeClr val="tx1"/>
                </a:solidFill>
              </a:rPr>
              <a:t>(</a:t>
            </a:r>
            <a:r>
              <a:rPr lang="en-US" sz="800" b="1">
                <a:solidFill>
                  <a:schemeClr val="tx1"/>
                </a:solidFill>
              </a:rPr>
              <a:t>Data cleaning, data normalization and  feature engineering</a:t>
            </a:r>
            <a:r>
              <a:rPr lang="en-US" sz="10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505" name="Straight Arrow Connector 17504">
            <a:extLst>
              <a:ext uri="{FF2B5EF4-FFF2-40B4-BE49-F238E27FC236}">
                <a16:creationId xmlns:a16="http://schemas.microsoft.com/office/drawing/2014/main" id="{68B70008-B38A-8828-1B64-DACFC9AE99A4}"/>
              </a:ext>
            </a:extLst>
          </p:cNvPr>
          <p:cNvCxnSpPr>
            <a:cxnSpLocks/>
            <a:stCxn id="17497" idx="2"/>
            <a:endCxn id="17504" idx="0"/>
          </p:cNvCxnSpPr>
          <p:nvPr/>
        </p:nvCxnSpPr>
        <p:spPr>
          <a:xfrm>
            <a:off x="5968384" y="2799250"/>
            <a:ext cx="0" cy="435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6" name="Straight Arrow Connector 17505">
            <a:extLst>
              <a:ext uri="{FF2B5EF4-FFF2-40B4-BE49-F238E27FC236}">
                <a16:creationId xmlns:a16="http://schemas.microsoft.com/office/drawing/2014/main" id="{9F591BEA-6C5D-3B8A-BD64-942C0DC9227F}"/>
              </a:ext>
            </a:extLst>
          </p:cNvPr>
          <p:cNvCxnSpPr>
            <a:cxnSpLocks/>
            <a:endCxn id="17540" idx="0"/>
          </p:cNvCxnSpPr>
          <p:nvPr/>
        </p:nvCxnSpPr>
        <p:spPr>
          <a:xfrm>
            <a:off x="6063956" y="4059011"/>
            <a:ext cx="5403" cy="193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07" name="Terminator 22">
            <a:extLst>
              <a:ext uri="{FF2B5EF4-FFF2-40B4-BE49-F238E27FC236}">
                <a16:creationId xmlns:a16="http://schemas.microsoft.com/office/drawing/2014/main" id="{DBE9CDD1-BBC4-F675-A6AD-E0A0FA3F8E4B}"/>
              </a:ext>
            </a:extLst>
          </p:cNvPr>
          <p:cNvSpPr/>
          <p:nvPr/>
        </p:nvSpPr>
        <p:spPr>
          <a:xfrm>
            <a:off x="5555368" y="4961272"/>
            <a:ext cx="4416267" cy="1178035"/>
          </a:xfrm>
          <a:prstGeom prst="flowChartTerminator">
            <a:avLst/>
          </a:prstGeom>
          <a:gradFill flip="none" rotWithShape="1">
            <a:gsLst>
              <a:gs pos="0">
                <a:srgbClr val="9575CD">
                  <a:shade val="30000"/>
                  <a:satMod val="115000"/>
                </a:srgbClr>
              </a:gs>
              <a:gs pos="50000">
                <a:srgbClr val="9575CD">
                  <a:shade val="67500"/>
                  <a:satMod val="115000"/>
                </a:srgbClr>
              </a:gs>
              <a:gs pos="100000">
                <a:srgbClr val="9575CD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08" name="Straight Arrow Connector 17507">
            <a:extLst>
              <a:ext uri="{FF2B5EF4-FFF2-40B4-BE49-F238E27FC236}">
                <a16:creationId xmlns:a16="http://schemas.microsoft.com/office/drawing/2014/main" id="{96BD2F0E-BD00-C776-BB7C-591C60ABDDB7}"/>
              </a:ext>
            </a:extLst>
          </p:cNvPr>
          <p:cNvCxnSpPr>
            <a:cxnSpLocks/>
          </p:cNvCxnSpPr>
          <p:nvPr/>
        </p:nvCxnSpPr>
        <p:spPr>
          <a:xfrm>
            <a:off x="6034460" y="4703115"/>
            <a:ext cx="10806" cy="302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09" name="TextBox 17508">
            <a:extLst>
              <a:ext uri="{FF2B5EF4-FFF2-40B4-BE49-F238E27FC236}">
                <a16:creationId xmlns:a16="http://schemas.microsoft.com/office/drawing/2014/main" id="{0C29B6FE-66F5-9E18-6BDA-D0B024099526}"/>
              </a:ext>
            </a:extLst>
          </p:cNvPr>
          <p:cNvSpPr txBox="1"/>
          <p:nvPr/>
        </p:nvSpPr>
        <p:spPr>
          <a:xfrm>
            <a:off x="7034389" y="4961271"/>
            <a:ext cx="1878206" cy="40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Machine learning layer</a:t>
            </a:r>
          </a:p>
          <a:p>
            <a:endParaRPr lang="en-US" sz="1400"/>
          </a:p>
        </p:txBody>
      </p:sp>
      <p:sp>
        <p:nvSpPr>
          <p:cNvPr id="17510" name="Oval 17509">
            <a:extLst>
              <a:ext uri="{FF2B5EF4-FFF2-40B4-BE49-F238E27FC236}">
                <a16:creationId xmlns:a16="http://schemas.microsoft.com/office/drawing/2014/main" id="{5523929C-45F9-2B20-DF10-9066482484E4}"/>
              </a:ext>
            </a:extLst>
          </p:cNvPr>
          <p:cNvSpPr/>
          <p:nvPr/>
        </p:nvSpPr>
        <p:spPr>
          <a:xfrm>
            <a:off x="5724834" y="5278752"/>
            <a:ext cx="877129" cy="61669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Model selection</a:t>
            </a:r>
          </a:p>
        </p:txBody>
      </p:sp>
      <p:sp>
        <p:nvSpPr>
          <p:cNvPr id="17511" name="Oval 17510">
            <a:extLst>
              <a:ext uri="{FF2B5EF4-FFF2-40B4-BE49-F238E27FC236}">
                <a16:creationId xmlns:a16="http://schemas.microsoft.com/office/drawing/2014/main" id="{13D40EC2-8587-740A-9D3C-1CD2CF0A2DAC}"/>
              </a:ext>
            </a:extLst>
          </p:cNvPr>
          <p:cNvSpPr/>
          <p:nvPr/>
        </p:nvSpPr>
        <p:spPr>
          <a:xfrm>
            <a:off x="6803356" y="5302585"/>
            <a:ext cx="886136" cy="5762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7512" name="Oval 17511">
            <a:extLst>
              <a:ext uri="{FF2B5EF4-FFF2-40B4-BE49-F238E27FC236}">
                <a16:creationId xmlns:a16="http://schemas.microsoft.com/office/drawing/2014/main" id="{75FC3C34-3012-A006-FDB1-E2CB03F0DECC}"/>
              </a:ext>
            </a:extLst>
          </p:cNvPr>
          <p:cNvSpPr/>
          <p:nvPr/>
        </p:nvSpPr>
        <p:spPr>
          <a:xfrm>
            <a:off x="7857976" y="5289614"/>
            <a:ext cx="996982" cy="5762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17513" name="Oval 17512">
            <a:extLst>
              <a:ext uri="{FF2B5EF4-FFF2-40B4-BE49-F238E27FC236}">
                <a16:creationId xmlns:a16="http://schemas.microsoft.com/office/drawing/2014/main" id="{2E47A228-ADB8-F55C-0638-F97820DE3FE8}"/>
              </a:ext>
            </a:extLst>
          </p:cNvPr>
          <p:cNvSpPr/>
          <p:nvPr/>
        </p:nvSpPr>
        <p:spPr>
          <a:xfrm>
            <a:off x="8936499" y="5289614"/>
            <a:ext cx="886136" cy="5762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Prediction</a:t>
            </a:r>
          </a:p>
        </p:txBody>
      </p:sp>
      <p:cxnSp>
        <p:nvCxnSpPr>
          <p:cNvPr id="17514" name="Straight Arrow Connector 17513">
            <a:extLst>
              <a:ext uri="{FF2B5EF4-FFF2-40B4-BE49-F238E27FC236}">
                <a16:creationId xmlns:a16="http://schemas.microsoft.com/office/drawing/2014/main" id="{A3499635-1E29-193D-886B-3BC576158640}"/>
              </a:ext>
            </a:extLst>
          </p:cNvPr>
          <p:cNvCxnSpPr>
            <a:cxnSpLocks/>
          </p:cNvCxnSpPr>
          <p:nvPr/>
        </p:nvCxnSpPr>
        <p:spPr>
          <a:xfrm flipV="1">
            <a:off x="6610969" y="5597960"/>
            <a:ext cx="1923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15" name="Straight Arrow Connector 17514">
            <a:extLst>
              <a:ext uri="{FF2B5EF4-FFF2-40B4-BE49-F238E27FC236}">
                <a16:creationId xmlns:a16="http://schemas.microsoft.com/office/drawing/2014/main" id="{E447D2BD-0D6C-9035-29B1-59243607911B}"/>
              </a:ext>
            </a:extLst>
          </p:cNvPr>
          <p:cNvCxnSpPr>
            <a:cxnSpLocks/>
          </p:cNvCxnSpPr>
          <p:nvPr/>
        </p:nvCxnSpPr>
        <p:spPr>
          <a:xfrm flipV="1">
            <a:off x="8782668" y="5594340"/>
            <a:ext cx="1923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16" name="Straight Arrow Connector 17515">
            <a:extLst>
              <a:ext uri="{FF2B5EF4-FFF2-40B4-BE49-F238E27FC236}">
                <a16:creationId xmlns:a16="http://schemas.microsoft.com/office/drawing/2014/main" id="{CEA502FF-60D4-7104-EE7F-9D56483B4142}"/>
              </a:ext>
            </a:extLst>
          </p:cNvPr>
          <p:cNvCxnSpPr>
            <a:cxnSpLocks/>
          </p:cNvCxnSpPr>
          <p:nvPr/>
        </p:nvCxnSpPr>
        <p:spPr>
          <a:xfrm flipV="1">
            <a:off x="7673448" y="5587099"/>
            <a:ext cx="1923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17" name="Straight Arrow Connector 17516">
            <a:extLst>
              <a:ext uri="{FF2B5EF4-FFF2-40B4-BE49-F238E27FC236}">
                <a16:creationId xmlns:a16="http://schemas.microsoft.com/office/drawing/2014/main" id="{FBD82CB7-0BE8-64F2-C064-EAF4B1F817C8}"/>
              </a:ext>
            </a:extLst>
          </p:cNvPr>
          <p:cNvCxnSpPr>
            <a:cxnSpLocks/>
          </p:cNvCxnSpPr>
          <p:nvPr/>
        </p:nvCxnSpPr>
        <p:spPr>
          <a:xfrm>
            <a:off x="9971634" y="5539427"/>
            <a:ext cx="554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18" name="Rounded Rectangle 41">
            <a:extLst>
              <a:ext uri="{FF2B5EF4-FFF2-40B4-BE49-F238E27FC236}">
                <a16:creationId xmlns:a16="http://schemas.microsoft.com/office/drawing/2014/main" id="{91840EE5-D39E-776A-0059-EBD8D97FE0ED}"/>
              </a:ext>
            </a:extLst>
          </p:cNvPr>
          <p:cNvSpPr/>
          <p:nvPr/>
        </p:nvSpPr>
        <p:spPr>
          <a:xfrm>
            <a:off x="8408293" y="1053266"/>
            <a:ext cx="3594970" cy="33570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19" name="TextBox 17518">
            <a:extLst>
              <a:ext uri="{FF2B5EF4-FFF2-40B4-BE49-F238E27FC236}">
                <a16:creationId xmlns:a16="http://schemas.microsoft.com/office/drawing/2014/main" id="{B703B5AD-7FB7-6137-16C6-F7A9933C2E1F}"/>
              </a:ext>
            </a:extLst>
          </p:cNvPr>
          <p:cNvSpPr txBox="1"/>
          <p:nvPr/>
        </p:nvSpPr>
        <p:spPr>
          <a:xfrm>
            <a:off x="8840197" y="1022433"/>
            <a:ext cx="274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Frontend Website interface</a:t>
            </a:r>
          </a:p>
        </p:txBody>
      </p:sp>
      <p:sp>
        <p:nvSpPr>
          <p:cNvPr id="17520" name="Alternative Process 46">
            <a:extLst>
              <a:ext uri="{FF2B5EF4-FFF2-40B4-BE49-F238E27FC236}">
                <a16:creationId xmlns:a16="http://schemas.microsoft.com/office/drawing/2014/main" id="{6D7F23EE-0045-CDD6-576C-AF3CF9ACC801}"/>
              </a:ext>
            </a:extLst>
          </p:cNvPr>
          <p:cNvSpPr/>
          <p:nvPr/>
        </p:nvSpPr>
        <p:spPr>
          <a:xfrm>
            <a:off x="7040252" y="3393162"/>
            <a:ext cx="789977" cy="365007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21" name="TextBox 17520">
            <a:extLst>
              <a:ext uri="{FF2B5EF4-FFF2-40B4-BE49-F238E27FC236}">
                <a16:creationId xmlns:a16="http://schemas.microsoft.com/office/drawing/2014/main" id="{7CF655BB-1695-E30E-ACBA-DDE206DF2BF5}"/>
              </a:ext>
            </a:extLst>
          </p:cNvPr>
          <p:cNvSpPr txBox="1"/>
          <p:nvPr/>
        </p:nvSpPr>
        <p:spPr>
          <a:xfrm>
            <a:off x="7070571" y="3393880"/>
            <a:ext cx="680506" cy="283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Server </a:t>
            </a:r>
          </a:p>
        </p:txBody>
      </p:sp>
      <p:sp>
        <p:nvSpPr>
          <p:cNvPr id="17522" name="Diamond 17521">
            <a:extLst>
              <a:ext uri="{FF2B5EF4-FFF2-40B4-BE49-F238E27FC236}">
                <a16:creationId xmlns:a16="http://schemas.microsoft.com/office/drawing/2014/main" id="{89336165-5032-C06F-938F-9D65B186222C}"/>
              </a:ext>
            </a:extLst>
          </p:cNvPr>
          <p:cNvSpPr/>
          <p:nvPr/>
        </p:nvSpPr>
        <p:spPr>
          <a:xfrm>
            <a:off x="10894778" y="3180169"/>
            <a:ext cx="1099963" cy="76870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23" name="TextBox 17522">
            <a:extLst>
              <a:ext uri="{FF2B5EF4-FFF2-40B4-BE49-F238E27FC236}">
                <a16:creationId xmlns:a16="http://schemas.microsoft.com/office/drawing/2014/main" id="{DBC20659-87A4-A125-3AC8-15AEBB085F52}"/>
              </a:ext>
            </a:extLst>
          </p:cNvPr>
          <p:cNvSpPr txBox="1"/>
          <p:nvPr/>
        </p:nvSpPr>
        <p:spPr>
          <a:xfrm>
            <a:off x="10918998" y="3452899"/>
            <a:ext cx="891349" cy="165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Selection of Language</a:t>
            </a:r>
          </a:p>
        </p:txBody>
      </p:sp>
      <p:sp>
        <p:nvSpPr>
          <p:cNvPr id="17524" name="Terminator 54">
            <a:extLst>
              <a:ext uri="{FF2B5EF4-FFF2-40B4-BE49-F238E27FC236}">
                <a16:creationId xmlns:a16="http://schemas.microsoft.com/office/drawing/2014/main" id="{36D68251-BEE3-E6BA-E024-86AC0832D456}"/>
              </a:ext>
            </a:extLst>
          </p:cNvPr>
          <p:cNvSpPr/>
          <p:nvPr/>
        </p:nvSpPr>
        <p:spPr>
          <a:xfrm>
            <a:off x="8991941" y="3054145"/>
            <a:ext cx="1772270" cy="595833"/>
          </a:xfrm>
          <a:prstGeom prst="flowChartTerminator">
            <a:avLst/>
          </a:prstGeom>
          <a:solidFill>
            <a:srgbClr val="4F81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25" name="TextBox 17524">
            <a:extLst>
              <a:ext uri="{FF2B5EF4-FFF2-40B4-BE49-F238E27FC236}">
                <a16:creationId xmlns:a16="http://schemas.microsoft.com/office/drawing/2014/main" id="{FE192E3E-AFE2-1789-1CA0-8232291E4CC9}"/>
              </a:ext>
            </a:extLst>
          </p:cNvPr>
          <p:cNvSpPr txBox="1"/>
          <p:nvPr/>
        </p:nvSpPr>
        <p:spPr>
          <a:xfrm>
            <a:off x="9031859" y="3266654"/>
            <a:ext cx="1441612" cy="177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Selection of region manually /GPS</a:t>
            </a:r>
          </a:p>
        </p:txBody>
      </p:sp>
      <p:sp>
        <p:nvSpPr>
          <p:cNvPr id="17526" name="Terminator 60">
            <a:extLst>
              <a:ext uri="{FF2B5EF4-FFF2-40B4-BE49-F238E27FC236}">
                <a16:creationId xmlns:a16="http://schemas.microsoft.com/office/drawing/2014/main" id="{74C5C0B1-BEC2-968C-43AC-8F09CF2C670B}"/>
              </a:ext>
            </a:extLst>
          </p:cNvPr>
          <p:cNvSpPr/>
          <p:nvPr/>
        </p:nvSpPr>
        <p:spPr>
          <a:xfrm>
            <a:off x="8730862" y="2426529"/>
            <a:ext cx="2854895" cy="489898"/>
          </a:xfrm>
          <a:prstGeom prst="flowChartTerminator">
            <a:avLst/>
          </a:prstGeom>
          <a:solidFill>
            <a:srgbClr val="4F81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27" name="TextBox 17526">
            <a:extLst>
              <a:ext uri="{FF2B5EF4-FFF2-40B4-BE49-F238E27FC236}">
                <a16:creationId xmlns:a16="http://schemas.microsoft.com/office/drawing/2014/main" id="{0932426D-619B-FFA1-BBE1-E643D72A9ACC}"/>
              </a:ext>
            </a:extLst>
          </p:cNvPr>
          <p:cNvSpPr txBox="1"/>
          <p:nvPr/>
        </p:nvSpPr>
        <p:spPr>
          <a:xfrm>
            <a:off x="8801191" y="2536400"/>
            <a:ext cx="2315789" cy="165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Making them answer a questionnaire for additional information</a:t>
            </a:r>
          </a:p>
        </p:txBody>
      </p:sp>
      <p:cxnSp>
        <p:nvCxnSpPr>
          <p:cNvPr id="17528" name="Straight Arrow Connector 17527">
            <a:extLst>
              <a:ext uri="{FF2B5EF4-FFF2-40B4-BE49-F238E27FC236}">
                <a16:creationId xmlns:a16="http://schemas.microsoft.com/office/drawing/2014/main" id="{77AD0F01-4FAC-2A34-19B1-D41BE10F96FA}"/>
              </a:ext>
            </a:extLst>
          </p:cNvPr>
          <p:cNvCxnSpPr>
            <a:cxnSpLocks/>
          </p:cNvCxnSpPr>
          <p:nvPr/>
        </p:nvCxnSpPr>
        <p:spPr>
          <a:xfrm flipV="1">
            <a:off x="9939686" y="2825727"/>
            <a:ext cx="0" cy="228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29" name="Straight Arrow Connector 17528">
            <a:extLst>
              <a:ext uri="{FF2B5EF4-FFF2-40B4-BE49-F238E27FC236}">
                <a16:creationId xmlns:a16="http://schemas.microsoft.com/office/drawing/2014/main" id="{512EAF48-6F99-3A69-C83B-080D604052A5}"/>
              </a:ext>
            </a:extLst>
          </p:cNvPr>
          <p:cNvCxnSpPr>
            <a:cxnSpLocks/>
          </p:cNvCxnSpPr>
          <p:nvPr/>
        </p:nvCxnSpPr>
        <p:spPr>
          <a:xfrm flipV="1">
            <a:off x="10943218" y="3713274"/>
            <a:ext cx="197436" cy="174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30" name="Straight Arrow Connector 17529">
            <a:extLst>
              <a:ext uri="{FF2B5EF4-FFF2-40B4-BE49-F238E27FC236}">
                <a16:creationId xmlns:a16="http://schemas.microsoft.com/office/drawing/2014/main" id="{0926894F-C950-E1E2-82AF-7E2891315A5E}"/>
              </a:ext>
            </a:extLst>
          </p:cNvPr>
          <p:cNvCxnSpPr>
            <a:cxnSpLocks/>
          </p:cNvCxnSpPr>
          <p:nvPr/>
        </p:nvCxnSpPr>
        <p:spPr>
          <a:xfrm flipH="1" flipV="1">
            <a:off x="10788431" y="3332206"/>
            <a:ext cx="352224" cy="67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31" name="Straight Arrow Connector 17530">
            <a:extLst>
              <a:ext uri="{FF2B5EF4-FFF2-40B4-BE49-F238E27FC236}">
                <a16:creationId xmlns:a16="http://schemas.microsoft.com/office/drawing/2014/main" id="{4D384124-09C8-8728-1FF9-BF6B788F8134}"/>
              </a:ext>
            </a:extLst>
          </p:cNvPr>
          <p:cNvCxnSpPr>
            <a:cxnSpLocks/>
            <a:stCxn id="17520" idx="3"/>
          </p:cNvCxnSpPr>
          <p:nvPr/>
        </p:nvCxnSpPr>
        <p:spPr>
          <a:xfrm>
            <a:off x="7830229" y="3575666"/>
            <a:ext cx="1041456" cy="483345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532" name="Terminator 80">
            <a:extLst>
              <a:ext uri="{FF2B5EF4-FFF2-40B4-BE49-F238E27FC236}">
                <a16:creationId xmlns:a16="http://schemas.microsoft.com/office/drawing/2014/main" id="{FE267561-50D8-6C88-AABC-5B7951568E63}"/>
              </a:ext>
            </a:extLst>
          </p:cNvPr>
          <p:cNvSpPr/>
          <p:nvPr/>
        </p:nvSpPr>
        <p:spPr>
          <a:xfrm>
            <a:off x="8854793" y="1852553"/>
            <a:ext cx="2127571" cy="36090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Displaying Results</a:t>
            </a:r>
          </a:p>
        </p:txBody>
      </p:sp>
      <p:cxnSp>
        <p:nvCxnSpPr>
          <p:cNvPr id="17533" name="Elbow Connector 83">
            <a:extLst>
              <a:ext uri="{FF2B5EF4-FFF2-40B4-BE49-F238E27FC236}">
                <a16:creationId xmlns:a16="http://schemas.microsoft.com/office/drawing/2014/main" id="{740A5426-13C6-2DC7-2A30-8CBAF728C669}"/>
              </a:ext>
            </a:extLst>
          </p:cNvPr>
          <p:cNvCxnSpPr>
            <a:cxnSpLocks/>
          </p:cNvCxnSpPr>
          <p:nvPr/>
        </p:nvCxnSpPr>
        <p:spPr>
          <a:xfrm rot="10800000">
            <a:off x="11078881" y="1885600"/>
            <a:ext cx="1020899" cy="794945"/>
          </a:xfrm>
          <a:prstGeom prst="bentConnector3">
            <a:avLst>
              <a:gd name="adj1" fmla="val 76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34" name="Straight Connector 17533">
            <a:extLst>
              <a:ext uri="{FF2B5EF4-FFF2-40B4-BE49-F238E27FC236}">
                <a16:creationId xmlns:a16="http://schemas.microsoft.com/office/drawing/2014/main" id="{60C8E0C1-F906-A2A0-F0C4-F0D3FD65C260}"/>
              </a:ext>
            </a:extLst>
          </p:cNvPr>
          <p:cNvCxnSpPr>
            <a:cxnSpLocks/>
          </p:cNvCxnSpPr>
          <p:nvPr/>
        </p:nvCxnSpPr>
        <p:spPr>
          <a:xfrm flipH="1">
            <a:off x="12058576" y="2680544"/>
            <a:ext cx="36488" cy="24125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35" name="Straight Arrow Connector 17534">
            <a:extLst>
              <a:ext uri="{FF2B5EF4-FFF2-40B4-BE49-F238E27FC236}">
                <a16:creationId xmlns:a16="http://schemas.microsoft.com/office/drawing/2014/main" id="{828B2DD2-8E6A-B281-EB64-53C77420CA1E}"/>
              </a:ext>
            </a:extLst>
          </p:cNvPr>
          <p:cNvCxnSpPr>
            <a:cxnSpLocks/>
          </p:cNvCxnSpPr>
          <p:nvPr/>
        </p:nvCxnSpPr>
        <p:spPr>
          <a:xfrm flipH="1" flipV="1">
            <a:off x="9966574" y="2208380"/>
            <a:ext cx="12580" cy="21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536" name="Terminator 96">
            <a:extLst>
              <a:ext uri="{FF2B5EF4-FFF2-40B4-BE49-F238E27FC236}">
                <a16:creationId xmlns:a16="http://schemas.microsoft.com/office/drawing/2014/main" id="{520D8109-AF7C-51C0-AF2D-AFE67B6A9777}"/>
              </a:ext>
            </a:extLst>
          </p:cNvPr>
          <p:cNvSpPr/>
          <p:nvPr/>
        </p:nvSpPr>
        <p:spPr>
          <a:xfrm>
            <a:off x="9009104" y="1344399"/>
            <a:ext cx="2127914" cy="328289"/>
          </a:xfrm>
          <a:prstGeom prst="flowChartTerminator">
            <a:avLst/>
          </a:prstGeom>
          <a:solidFill>
            <a:srgbClr val="4F81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Feedback and reviews from farmers</a:t>
            </a:r>
          </a:p>
        </p:txBody>
      </p:sp>
      <p:cxnSp>
        <p:nvCxnSpPr>
          <p:cNvPr id="17537" name="Straight Arrow Connector 17536">
            <a:extLst>
              <a:ext uri="{FF2B5EF4-FFF2-40B4-BE49-F238E27FC236}">
                <a16:creationId xmlns:a16="http://schemas.microsoft.com/office/drawing/2014/main" id="{582581E4-62BF-FC2D-0593-44E930037F30}"/>
              </a:ext>
            </a:extLst>
          </p:cNvPr>
          <p:cNvCxnSpPr>
            <a:cxnSpLocks/>
          </p:cNvCxnSpPr>
          <p:nvPr/>
        </p:nvCxnSpPr>
        <p:spPr>
          <a:xfrm flipV="1">
            <a:off x="9979153" y="1689163"/>
            <a:ext cx="1" cy="18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38" name="Straight Arrow Connector 17537">
            <a:extLst>
              <a:ext uri="{FF2B5EF4-FFF2-40B4-BE49-F238E27FC236}">
                <a16:creationId xmlns:a16="http://schemas.microsoft.com/office/drawing/2014/main" id="{A4F82EE7-7377-99BE-7838-614E432DE45A}"/>
              </a:ext>
            </a:extLst>
          </p:cNvPr>
          <p:cNvCxnSpPr>
            <a:cxnSpLocks/>
            <a:endCxn id="17521" idx="1"/>
          </p:cNvCxnSpPr>
          <p:nvPr/>
        </p:nvCxnSpPr>
        <p:spPr>
          <a:xfrm>
            <a:off x="6414066" y="2750354"/>
            <a:ext cx="656505" cy="7851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9" name="Straight Arrow Connector 17538">
            <a:extLst>
              <a:ext uri="{FF2B5EF4-FFF2-40B4-BE49-F238E27FC236}">
                <a16:creationId xmlns:a16="http://schemas.microsoft.com/office/drawing/2014/main" id="{DACA64D2-02F9-75D5-508E-8E0BF55AE2FA}"/>
              </a:ext>
            </a:extLst>
          </p:cNvPr>
          <p:cNvCxnSpPr>
            <a:cxnSpLocks/>
            <a:stCxn id="17521" idx="0"/>
          </p:cNvCxnSpPr>
          <p:nvPr/>
        </p:nvCxnSpPr>
        <p:spPr>
          <a:xfrm flipV="1">
            <a:off x="7410824" y="1583753"/>
            <a:ext cx="1570861" cy="181012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540" name="Alternative Process 6">
            <a:extLst>
              <a:ext uri="{FF2B5EF4-FFF2-40B4-BE49-F238E27FC236}">
                <a16:creationId xmlns:a16="http://schemas.microsoft.com/office/drawing/2014/main" id="{DF37FC9E-1D19-ED45-E4E4-146933858D7A}"/>
              </a:ext>
            </a:extLst>
          </p:cNvPr>
          <p:cNvSpPr/>
          <p:nvPr/>
        </p:nvSpPr>
        <p:spPr>
          <a:xfrm>
            <a:off x="5535558" y="4252626"/>
            <a:ext cx="1008609" cy="442618"/>
          </a:xfrm>
          <a:prstGeom prst="flowChartAlternateProcess">
            <a:avLst/>
          </a:prstGeom>
          <a:solidFill>
            <a:srgbClr val="81C7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chemeClr val="tx1"/>
                </a:solidFill>
              </a:rPr>
              <a:t>Processed</a:t>
            </a:r>
            <a:r>
              <a:rPr lang="en-US" sz="1050" b="1"/>
              <a:t> </a:t>
            </a:r>
            <a:r>
              <a:rPr lang="en-US" sz="105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7541" name="Connector: Elbow 17540">
            <a:extLst>
              <a:ext uri="{FF2B5EF4-FFF2-40B4-BE49-F238E27FC236}">
                <a16:creationId xmlns:a16="http://schemas.microsoft.com/office/drawing/2014/main" id="{0A6DA48E-9724-E0C2-7083-9E1E1D4D39EA}"/>
              </a:ext>
            </a:extLst>
          </p:cNvPr>
          <p:cNvCxnSpPr>
            <a:cxnSpLocks/>
          </p:cNvCxnSpPr>
          <p:nvPr/>
        </p:nvCxnSpPr>
        <p:spPr>
          <a:xfrm rot="10800000">
            <a:off x="6468660" y="2695384"/>
            <a:ext cx="2255262" cy="62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42" name="Rectangle: Rounded Corners 17541">
            <a:extLst>
              <a:ext uri="{FF2B5EF4-FFF2-40B4-BE49-F238E27FC236}">
                <a16:creationId xmlns:a16="http://schemas.microsoft.com/office/drawing/2014/main" id="{22EA550C-2FC7-45E6-1DA5-F1A8CFE91207}"/>
              </a:ext>
            </a:extLst>
          </p:cNvPr>
          <p:cNvSpPr/>
          <p:nvPr/>
        </p:nvSpPr>
        <p:spPr>
          <a:xfrm>
            <a:off x="8975055" y="3838893"/>
            <a:ext cx="1919723" cy="434164"/>
          </a:xfrm>
          <a:prstGeom prst="round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</a:rPr>
              <a:t>Login Credentials</a:t>
            </a:r>
          </a:p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04D2A-4385-3B7D-4A3B-2B736E375333}"/>
              </a:ext>
            </a:extLst>
          </p:cNvPr>
          <p:cNvSpPr txBox="1"/>
          <p:nvPr/>
        </p:nvSpPr>
        <p:spPr>
          <a:xfrm>
            <a:off x="151508" y="1183260"/>
            <a:ext cx="2743200" cy="915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ts val="2100"/>
              </a:lnSpc>
              <a:buFont typeface="Wingdings"/>
              <a:buChar char="v"/>
            </a:pPr>
            <a:r>
              <a:rPr lang="en-IN" sz="2200" b="1" u="sng">
                <a:latin typeface="Times New Roman"/>
                <a:ea typeface="ＭＳ Ｐゴシック"/>
                <a:cs typeface="Arial"/>
              </a:rPr>
              <a:t>Tech</a:t>
            </a:r>
            <a:r>
              <a:rPr lang="en-IN" sz="2200" b="1">
                <a:latin typeface="Times New Roman"/>
                <a:ea typeface="ＭＳ Ｐゴシック"/>
                <a:cs typeface="Arial"/>
              </a:rPr>
              <a:t> </a:t>
            </a:r>
            <a:r>
              <a:rPr lang="en-IN" sz="2200" b="1" u="sng">
                <a:latin typeface="Times New Roman"/>
                <a:ea typeface="ＭＳ Ｐゴシック"/>
                <a:cs typeface="Arial"/>
              </a:rPr>
              <a:t>Stack</a:t>
            </a:r>
            <a:r>
              <a:rPr lang="en-IN" sz="2200" b="1">
                <a:latin typeface="Times New Roman"/>
                <a:ea typeface="ＭＳ Ｐゴシック"/>
                <a:cs typeface="Arial"/>
              </a:rPr>
              <a:t>:</a:t>
            </a:r>
            <a:r>
              <a:rPr lang="en-US" sz="2200">
                <a:latin typeface="Times New Roman"/>
                <a:ea typeface="ＭＳ Ｐゴシック"/>
                <a:cs typeface="Arial"/>
              </a:rPr>
              <a:t>​</a:t>
            </a:r>
            <a:endParaRPr lang="en-US">
              <a:cs typeface="Calibri" pitchFamily="34" charset="0"/>
            </a:endParaRPr>
          </a:p>
          <a:p>
            <a:pPr marL="342900" indent="-342900" algn="just">
              <a:buFont typeface="Wingdings"/>
              <a:buChar char="v"/>
            </a:pPr>
            <a:endParaRPr lang="en-IN">
              <a:latin typeface="Arial"/>
              <a:cs typeface="Arial"/>
            </a:endParaRPr>
          </a:p>
          <a:p>
            <a:pPr marL="342900" indent="-342900" algn="just">
              <a:buFont typeface="Wingdings"/>
              <a:buChar char="v"/>
            </a:pPr>
            <a:endParaRPr lang="en-US">
              <a:latin typeface="Arial"/>
              <a:cs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3D6E538-CDD7-9A1E-92D1-FA7A04E8C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150" y="2724150"/>
            <a:ext cx="1409700" cy="14097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71B1577-542E-7C57-54ED-9E996D9B1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255" y="1531981"/>
            <a:ext cx="495971" cy="4959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DED57B-9037-3E36-353D-F9CE6C5CF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049" y="2528828"/>
            <a:ext cx="803421" cy="7874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4D2A1C1-C393-066B-5100-AB2BFE07AB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935" y="3146164"/>
            <a:ext cx="495069" cy="29664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1F4C3E7-4791-4738-A162-D77ACA746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759" y="3074779"/>
            <a:ext cx="348727" cy="3487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23A9D88-62FA-A282-BF18-C9FFAED97D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3475" y="2580356"/>
            <a:ext cx="489590" cy="58216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BECF490-6CD9-4825-BE40-F0752C3BDB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8141" y="3074780"/>
            <a:ext cx="378120" cy="37812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48E85D5-3392-777F-71C2-D36F2E45B7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8692" y="2124022"/>
            <a:ext cx="832488" cy="49209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0B46A23-2CD7-0E3A-7FE8-EEF5D11A23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6847" y="2013079"/>
            <a:ext cx="597973" cy="56331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B24E85A-94BF-25EB-3DBE-526CE187D4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2515" y="2124022"/>
            <a:ext cx="354235" cy="51485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0D6F76D-D072-FAA9-DC7D-828E30C6C6C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47019" y="2705640"/>
            <a:ext cx="441686" cy="44168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C746E32-9580-1698-8D76-6241313867A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8224" y="1916238"/>
            <a:ext cx="648030" cy="71658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2D4CC8F-FDFB-8554-6289-0AD751BD01F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24096" y="2086678"/>
            <a:ext cx="413269" cy="41326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853EE9F-5D7A-9207-E01F-25412A7BAC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4419" y="2068770"/>
            <a:ext cx="373130" cy="507627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7A060EF-1BB3-A3EB-CFDD-8616DD6CEF81}"/>
              </a:ext>
            </a:extLst>
          </p:cNvPr>
          <p:cNvSpPr txBox="1"/>
          <p:nvPr/>
        </p:nvSpPr>
        <p:spPr>
          <a:xfrm>
            <a:off x="202221" y="1547393"/>
            <a:ext cx="170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Front-end: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5DCB203-365A-E6AE-5187-206E062C6D6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74053" y="1556366"/>
            <a:ext cx="457498" cy="42854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AEE377B-983D-F1C8-1667-AA9D105C58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8827" y="1535663"/>
            <a:ext cx="541157" cy="48182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F2B20BE-31EF-31CF-BEC4-9DA85ABCEA9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69004" y="2108647"/>
            <a:ext cx="405031" cy="540737"/>
          </a:xfrm>
          <a:prstGeom prst="rect">
            <a:avLst/>
          </a:prstGeom>
        </p:spPr>
      </p:pic>
      <p:pic>
        <p:nvPicPr>
          <p:cNvPr id="17473" name="Picture 17472">
            <a:extLst>
              <a:ext uri="{FF2B5EF4-FFF2-40B4-BE49-F238E27FC236}">
                <a16:creationId xmlns:a16="http://schemas.microsoft.com/office/drawing/2014/main" id="{3D225D17-2E4F-882C-E0E3-567A2C602A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65515" y="2044961"/>
            <a:ext cx="555246" cy="555246"/>
          </a:xfrm>
          <a:prstGeom prst="rect">
            <a:avLst/>
          </a:prstGeom>
        </p:spPr>
      </p:pic>
      <p:pic>
        <p:nvPicPr>
          <p:cNvPr id="17475" name="Picture 17474">
            <a:extLst>
              <a:ext uri="{FF2B5EF4-FFF2-40B4-BE49-F238E27FC236}">
                <a16:creationId xmlns:a16="http://schemas.microsoft.com/office/drawing/2014/main" id="{09C59FCD-E3D3-1CFB-0CE9-E86289DA3AA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66835" y="1641337"/>
            <a:ext cx="927850" cy="261026"/>
          </a:xfrm>
          <a:prstGeom prst="rect">
            <a:avLst/>
          </a:prstGeom>
        </p:spPr>
      </p:pic>
      <p:sp>
        <p:nvSpPr>
          <p:cNvPr id="17476" name="TextBox 17475">
            <a:extLst>
              <a:ext uri="{FF2B5EF4-FFF2-40B4-BE49-F238E27FC236}">
                <a16:creationId xmlns:a16="http://schemas.microsoft.com/office/drawing/2014/main" id="{BD63AC8E-9E2C-AB45-1982-B9AE2047253D}"/>
              </a:ext>
            </a:extLst>
          </p:cNvPr>
          <p:cNvSpPr txBox="1"/>
          <p:nvPr/>
        </p:nvSpPr>
        <p:spPr>
          <a:xfrm>
            <a:off x="196759" y="2108647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Back-end</a:t>
            </a:r>
            <a:r>
              <a:rPr lang="en-IN"/>
              <a:t>:</a:t>
            </a:r>
          </a:p>
        </p:txBody>
      </p:sp>
      <p:sp>
        <p:nvSpPr>
          <p:cNvPr id="17477" name="TextBox 17476">
            <a:extLst>
              <a:ext uri="{FF2B5EF4-FFF2-40B4-BE49-F238E27FC236}">
                <a16:creationId xmlns:a16="http://schemas.microsoft.com/office/drawing/2014/main" id="{AEB41E37-3C8F-0EA3-8A1D-E3363A72F849}"/>
              </a:ext>
            </a:extLst>
          </p:cNvPr>
          <p:cNvSpPr txBox="1"/>
          <p:nvPr/>
        </p:nvSpPr>
        <p:spPr>
          <a:xfrm>
            <a:off x="196759" y="265795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AI/</a:t>
            </a:r>
            <a:r>
              <a:rPr lang="en-IN" b="1" err="1"/>
              <a:t>Ml</a:t>
            </a:r>
            <a:r>
              <a:rPr lang="en-IN" b="1"/>
              <a:t>:</a:t>
            </a:r>
          </a:p>
        </p:txBody>
      </p:sp>
      <p:pic>
        <p:nvPicPr>
          <p:cNvPr id="17479" name="Picture 17478">
            <a:extLst>
              <a:ext uri="{FF2B5EF4-FFF2-40B4-BE49-F238E27FC236}">
                <a16:creationId xmlns:a16="http://schemas.microsoft.com/office/drawing/2014/main" id="{1A62FF8D-9A44-5DAF-B49B-1A97948485E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226" y="2590624"/>
            <a:ext cx="896838" cy="491600"/>
          </a:xfrm>
          <a:prstGeom prst="rect">
            <a:avLst/>
          </a:prstGeom>
        </p:spPr>
      </p:pic>
      <p:pic>
        <p:nvPicPr>
          <p:cNvPr id="17481" name="Picture 17480">
            <a:extLst>
              <a:ext uri="{FF2B5EF4-FFF2-40B4-BE49-F238E27FC236}">
                <a16:creationId xmlns:a16="http://schemas.microsoft.com/office/drawing/2014/main" id="{A9A911E3-A1CA-447E-46B8-E8F98205ED0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27412" y="2646700"/>
            <a:ext cx="435597" cy="435597"/>
          </a:xfrm>
          <a:prstGeom prst="rect">
            <a:avLst/>
          </a:prstGeom>
        </p:spPr>
      </p:pic>
      <p:sp>
        <p:nvSpPr>
          <p:cNvPr id="17482" name="TextBox 17481">
            <a:extLst>
              <a:ext uri="{FF2B5EF4-FFF2-40B4-BE49-F238E27FC236}">
                <a16:creationId xmlns:a16="http://schemas.microsoft.com/office/drawing/2014/main" id="{35F5C811-8225-71BF-3CBB-EECF9CD91BC7}"/>
              </a:ext>
            </a:extLst>
          </p:cNvPr>
          <p:cNvSpPr txBox="1"/>
          <p:nvPr/>
        </p:nvSpPr>
        <p:spPr>
          <a:xfrm>
            <a:off x="187410" y="3082224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Cloud:</a:t>
            </a:r>
          </a:p>
        </p:txBody>
      </p:sp>
      <p:pic>
        <p:nvPicPr>
          <p:cNvPr id="17484" name="Picture 17483">
            <a:extLst>
              <a:ext uri="{FF2B5EF4-FFF2-40B4-BE49-F238E27FC236}">
                <a16:creationId xmlns:a16="http://schemas.microsoft.com/office/drawing/2014/main" id="{9380D27E-73D6-B07E-B5BB-0494C48B98E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29081" y="1891806"/>
            <a:ext cx="777975" cy="272291"/>
          </a:xfrm>
          <a:prstGeom prst="rect">
            <a:avLst/>
          </a:prstGeom>
        </p:spPr>
      </p:pic>
      <p:sp>
        <p:nvSpPr>
          <p:cNvPr id="17485" name="TextBox 17484">
            <a:extLst>
              <a:ext uri="{FF2B5EF4-FFF2-40B4-BE49-F238E27FC236}">
                <a16:creationId xmlns:a16="http://schemas.microsoft.com/office/drawing/2014/main" id="{BD918A96-72D0-BC79-F563-CCF1B7BD0B7B}"/>
              </a:ext>
            </a:extLst>
          </p:cNvPr>
          <p:cNvSpPr txBox="1"/>
          <p:nvPr/>
        </p:nvSpPr>
        <p:spPr>
          <a:xfrm>
            <a:off x="2842302" y="2705463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Other:</a:t>
            </a:r>
          </a:p>
        </p:txBody>
      </p:sp>
      <p:pic>
        <p:nvPicPr>
          <p:cNvPr id="17487" name="Picture 17486">
            <a:extLst>
              <a:ext uri="{FF2B5EF4-FFF2-40B4-BE49-F238E27FC236}">
                <a16:creationId xmlns:a16="http://schemas.microsoft.com/office/drawing/2014/main" id="{E24D4C83-EDBC-FDA1-B21B-A13B3083D0F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742" y="3540625"/>
            <a:ext cx="5286305" cy="268420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08813" y="1419116"/>
            <a:ext cx="93853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>
                <a:solidFill>
                  <a:prstClr val="black"/>
                </a:solidFill>
                <a:latin typeface="Times New Roman"/>
                <a:ea typeface="ＭＳ Ｐゴシック"/>
                <a:cs typeface="Times New Roman"/>
              </a:rPr>
              <a:t>    </a:t>
            </a:r>
            <a:r>
              <a:rPr lang="en-IN" sz="2200" b="1">
                <a:solidFill>
                  <a:prstClr val="black"/>
                </a:solidFill>
                <a:latin typeface="Times New Roman"/>
                <a:ea typeface="ＭＳ Ｐゴシック"/>
                <a:cs typeface="Times New Roman"/>
              </a:rPr>
              <a:t>Technical :</a:t>
            </a:r>
            <a:endParaRPr lang="en-US">
              <a:solidFill>
                <a:prstClr val="black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IN" sz="2200" b="1">
              <a:solidFill>
                <a:prstClr val="black"/>
              </a:solidFill>
              <a:latin typeface="Times New Roman"/>
              <a:ea typeface="ＭＳ Ｐゴシック"/>
              <a:cs typeface="Times New Roman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200" b="1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Kisan </a:t>
            </a:r>
            <a:r>
              <a:rPr lang="en-US" err="1"/>
              <a:t>Sarthi</a:t>
            </a:r>
            <a:endParaRPr lang="en-IN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E0D851-5BA8-EADB-FF13-75D28DC8A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6" y="1365926"/>
            <a:ext cx="949137" cy="69238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Rectangle 7">
            <a:extLst>
              <a:ext uri="{FF2B5EF4-FFF2-40B4-BE49-F238E27FC236}">
                <a16:creationId xmlns:a16="http://schemas.microsoft.com/office/drawing/2014/main" id="{CFFB8293-EB97-6624-999F-2A87DC88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40" y="2078990"/>
            <a:ext cx="54561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Proven tech—scalable via cloud + edge computing.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in AI detection, scheduling reliability, offline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Regional AI datasets, weather/soil APIs, lightweight offline modules.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F4D012-5399-29BD-E253-6D6913DC1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40" y="3861256"/>
            <a:ext cx="1045081" cy="104194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C618A5-7675-3ED2-72FE-F3663D4767D3}"/>
              </a:ext>
            </a:extLst>
          </p:cNvPr>
          <p:cNvSpPr txBox="1"/>
          <p:nvPr/>
        </p:nvSpPr>
        <p:spPr>
          <a:xfrm>
            <a:off x="1278910" y="4268385"/>
            <a:ext cx="6094476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IN" sz="2200" b="1">
                <a:latin typeface="Times New Roman"/>
                <a:ea typeface="ＭＳ Ｐゴシック"/>
                <a:cs typeface="Times New Roman"/>
              </a:rPr>
              <a:t>Financial 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2ED69-54AE-67A1-F75B-BF9C76FD8598}"/>
              </a:ext>
            </a:extLst>
          </p:cNvPr>
          <p:cNvSpPr txBox="1"/>
          <p:nvPr/>
        </p:nvSpPr>
        <p:spPr>
          <a:xfrm>
            <a:off x="258316" y="4894718"/>
            <a:ext cx="58376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Viable—ROI through yield gains + policy support. </a:t>
            </a:r>
          </a:p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lang="en-IN"/>
              <a:t> High AI/dev costs </a:t>
            </a:r>
          </a:p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Open-source tools, govt. cloud credits, phased rollout.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FE76AB-CB18-B40C-55D8-572E59034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086" y="1141622"/>
            <a:ext cx="993590" cy="99027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707E64F-9C14-6D52-52A1-A66CF817429D}"/>
              </a:ext>
            </a:extLst>
          </p:cNvPr>
          <p:cNvSpPr txBox="1"/>
          <p:nvPr/>
        </p:nvSpPr>
        <p:spPr>
          <a:xfrm>
            <a:off x="6949676" y="1485347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IN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CE368A-4656-AA6B-18B8-41A639D57C4D}"/>
              </a:ext>
            </a:extLst>
          </p:cNvPr>
          <p:cNvSpPr txBox="1"/>
          <p:nvPr/>
        </p:nvSpPr>
        <p:spPr>
          <a:xfrm>
            <a:off x="5844610" y="2167458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Practical with phased deployment + personalized engagement. </a:t>
            </a:r>
          </a:p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Low adoption due to digital literacy/connectivity.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/>
              <a:t>Multi-language chatbot, simple UI, farmer training, offline access.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E1C674F-962F-9DCA-B256-CB33BC949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9" y="3878413"/>
            <a:ext cx="932657" cy="92333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E94292F-AC91-FFF6-58E2-467E79D2A944}"/>
              </a:ext>
            </a:extLst>
          </p:cNvPr>
          <p:cNvSpPr txBox="1"/>
          <p:nvPr/>
        </p:nvSpPr>
        <p:spPr>
          <a:xfrm>
            <a:off x="7108210" y="4082437"/>
            <a:ext cx="65242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Legal / Regulatory 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IN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1870E6-06BA-96A4-A9A6-BD41DC343387}"/>
              </a:ext>
            </a:extLst>
          </p:cNvPr>
          <p:cNvSpPr txBox="1"/>
          <p:nvPr/>
        </p:nvSpPr>
        <p:spPr>
          <a:xfrm>
            <a:off x="5956086" y="4850756"/>
            <a:ext cx="62359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Legally sound—aligns with govt. digital agriculture goals.</a:t>
            </a:r>
          </a:p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r>
              <a:rPr lang="en-IN"/>
              <a:t> </a:t>
            </a:r>
            <a:r>
              <a:rPr lang="en-US"/>
              <a:t>Data protection, compliance with MSP/market laws.</a:t>
            </a:r>
            <a:endParaRPr lang="en-IN"/>
          </a:p>
          <a:p>
            <a:pPr lvl="0" defTabSz="914400" eaLnBrk="0" hangingPunct="0">
              <a:buFontTx/>
              <a:buChar char="•"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/>
              <a:t>Encryption, DPDP/IT law compliance, MSP-aligned crop advice.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3840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EECA-E42D-7EE9-86E9-06595663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03129E-9165-31B7-8F3F-3FCF35E7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6BF42EA-727F-710C-B551-8E4B99FE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059695D-1743-9011-08E1-D1F87C964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78" y="2144926"/>
            <a:ext cx="239477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Productivity &amp; Profitability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F64C1-6F19-CA23-4D66-ADB983A5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5AAC2B1-E2CE-1F99-67C2-76235DA90F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Kisan </a:t>
            </a:r>
            <a:r>
              <a:rPr lang="en-US" err="1"/>
              <a:t>Sarthi</a:t>
            </a:r>
            <a:endParaRPr lang="en-IN"/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2FA51ED6-72FB-00AB-BBF6-BAD4B2C6A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A431E6-B761-8A17-58C5-885259A42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412" y="1119549"/>
            <a:ext cx="1069724" cy="10253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60BAD-AE74-75F0-CC37-500F57B19BD0}"/>
              </a:ext>
            </a:extLst>
          </p:cNvPr>
          <p:cNvSpPr txBox="1"/>
          <p:nvPr/>
        </p:nvSpPr>
        <p:spPr>
          <a:xfrm>
            <a:off x="180795" y="2625775"/>
            <a:ext cx="2870627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recommendations help farmers increase yield by at least 10%, optimize input use, and maximize profitability.</a:t>
            </a:r>
            <a:endParaRPr lang="en-US" sz="1400" spc="-86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0CA706-5C24-0FB0-A088-40872736B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631" y="1122666"/>
            <a:ext cx="1112578" cy="1143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C12FCF-09B7-735F-F84A-B525E021A7F1}"/>
              </a:ext>
            </a:extLst>
          </p:cNvPr>
          <p:cNvSpPr txBox="1"/>
          <p:nvPr/>
        </p:nvSpPr>
        <p:spPr>
          <a:xfrm>
            <a:off x="3254324" y="2281048"/>
            <a:ext cx="2745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Accessibility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86180-0DDD-2DD7-FFFF-EB97293847A0}"/>
              </a:ext>
            </a:extLst>
          </p:cNvPr>
          <p:cNvSpPr txBox="1"/>
          <p:nvPr/>
        </p:nvSpPr>
        <p:spPr>
          <a:xfrm>
            <a:off x="3269230" y="2625775"/>
            <a:ext cx="2659379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 support + chatbot ensures inclusivity, empowering farmers with limited digital literacy.</a:t>
            </a:r>
            <a:endParaRPr lang="en-US" sz="1400" spc="-86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DA40EB-960C-925F-3571-53F456518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256" y="1095375"/>
            <a:ext cx="1211943" cy="117029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1DD5AC-4405-4389-DE6E-DC941F05FC08}"/>
              </a:ext>
            </a:extLst>
          </p:cNvPr>
          <p:cNvSpPr txBox="1"/>
          <p:nvPr/>
        </p:nvSpPr>
        <p:spPr>
          <a:xfrm>
            <a:off x="6360633" y="2143405"/>
            <a:ext cx="19135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Pest &amp; Disease Control</a:t>
            </a:r>
            <a:endParaRPr lang="en-US" sz="16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BE66E-EC8E-BA62-2D38-E1DB30A7274A}"/>
              </a:ext>
            </a:extLst>
          </p:cNvPr>
          <p:cNvSpPr txBox="1"/>
          <p:nvPr/>
        </p:nvSpPr>
        <p:spPr>
          <a:xfrm>
            <a:off x="6170385" y="2606988"/>
            <a:ext cx="2318002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 upload leaf/stem images for instant diagnosis and remedy suggestions, reducing crop losses</a:t>
            </a:r>
            <a:r>
              <a:rPr lang="en-US"/>
              <a:t>.</a:t>
            </a:r>
            <a:endParaRPr lang="en-US" sz="1800" spc="-86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6D01FB-6829-F6A9-0E07-3BC6C9F051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4067" y="1127272"/>
            <a:ext cx="1301859" cy="130185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AF79338-E175-9154-7F33-BCAC729CE81A}"/>
              </a:ext>
            </a:extLst>
          </p:cNvPr>
          <p:cNvSpPr txBox="1"/>
          <p:nvPr/>
        </p:nvSpPr>
        <p:spPr>
          <a:xfrm>
            <a:off x="8906442" y="2281048"/>
            <a:ext cx="3104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Smarter Farm Management</a:t>
            </a:r>
            <a:endParaRPr lang="en-US" sz="16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0D31BE-70E5-523D-1DB3-CCE347D4C84E}"/>
              </a:ext>
            </a:extLst>
          </p:cNvPr>
          <p:cNvSpPr txBox="1"/>
          <p:nvPr/>
        </p:nvSpPr>
        <p:spPr>
          <a:xfrm>
            <a:off x="8678635" y="2623723"/>
            <a:ext cx="2982672" cy="105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/>
              <a:t>Personalized farming calendar + real-time alerts (irrigation, pests, weather) ensure timely, efficient decision-making.</a:t>
            </a:r>
            <a:endParaRPr lang="en-US" sz="1400" spc="-86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2C56817B-3D02-997E-DBEB-12A94892FEEF}"/>
              </a:ext>
            </a:extLst>
          </p:cNvPr>
          <p:cNvSpPr/>
          <p:nvPr/>
        </p:nvSpPr>
        <p:spPr>
          <a:xfrm>
            <a:off x="1093995" y="3721608"/>
            <a:ext cx="981694" cy="954604"/>
          </a:xfrm>
          <a:custGeom>
            <a:avLst/>
            <a:gdLst/>
            <a:ahLst/>
            <a:cxnLst/>
            <a:rect l="l" t="t" r="r" b="b"/>
            <a:pathLst>
              <a:path w="1610360" h="1610360">
                <a:moveTo>
                  <a:pt x="0" y="0"/>
                </a:moveTo>
                <a:lnTo>
                  <a:pt x="1610360" y="0"/>
                </a:lnTo>
                <a:lnTo>
                  <a:pt x="1610360" y="1610360"/>
                </a:lnTo>
                <a:lnTo>
                  <a:pt x="0" y="16103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20E87B-E819-B8A3-7437-26B0973D5713}"/>
              </a:ext>
            </a:extLst>
          </p:cNvPr>
          <p:cNvSpPr txBox="1"/>
          <p:nvPr/>
        </p:nvSpPr>
        <p:spPr>
          <a:xfrm>
            <a:off x="561266" y="4628678"/>
            <a:ext cx="205384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IN" sz="1600" b="1">
                <a:latin typeface="Times New Roman"/>
                <a:ea typeface="Calibri"/>
                <a:cs typeface="Calibri"/>
              </a:rPr>
              <a:t>Cost Savings through Efficiency</a:t>
            </a:r>
          </a:p>
          <a:p>
            <a:pPr algn="just">
              <a:defRPr/>
            </a:pPr>
            <a:endParaRPr lang="en-IN" sz="16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839B50-9382-8A57-77F5-691CC58A882D}"/>
              </a:ext>
            </a:extLst>
          </p:cNvPr>
          <p:cNvSpPr txBox="1"/>
          <p:nvPr/>
        </p:nvSpPr>
        <p:spPr>
          <a:xfrm>
            <a:off x="110007" y="5120517"/>
            <a:ext cx="2722468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1944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calculator helps compare inputs vs. yield; smart scheduling minimizes wastage of water, fertilizer, and pesticides.</a:t>
            </a:r>
            <a:endParaRPr lang="en-US" sz="1400" spc="-86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515C83-5514-3D7F-9DCB-64566ED29E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2631" y="3683960"/>
            <a:ext cx="1050125" cy="105012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DC79A31-E183-89C4-6505-D36B89C254C2}"/>
              </a:ext>
            </a:extLst>
          </p:cNvPr>
          <p:cNvSpPr txBox="1"/>
          <p:nvPr/>
        </p:nvSpPr>
        <p:spPr>
          <a:xfrm>
            <a:off x="3313395" y="4638324"/>
            <a:ext cx="2856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&amp; Eco-Friendly Practices</a:t>
            </a:r>
            <a:endParaRPr lang="en-US" sz="16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08415F-220B-4484-14ED-EF49DC95D65A}"/>
              </a:ext>
            </a:extLst>
          </p:cNvPr>
          <p:cNvSpPr txBox="1"/>
          <p:nvPr/>
        </p:nvSpPr>
        <p:spPr>
          <a:xfrm>
            <a:off x="3269230" y="5152884"/>
            <a:ext cx="2745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Tracks water saved, reduced fertilizer use, and carbon footprint, promoting climate-smart farming.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42D0187-A8B4-90FF-CBE9-E95BFB7B71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7127" y="3681563"/>
            <a:ext cx="951573" cy="106489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6EC780B-2402-161B-3F49-1617C96D360F}"/>
              </a:ext>
            </a:extLst>
          </p:cNvPr>
          <p:cNvSpPr txBox="1"/>
          <p:nvPr/>
        </p:nvSpPr>
        <p:spPr>
          <a:xfrm>
            <a:off x="6601260" y="4563941"/>
            <a:ext cx="1887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Crop Planning</a:t>
            </a:r>
            <a:endParaRPr lang="en-US" sz="16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F9B7A1-23DB-783E-A390-4590960C7C5A}"/>
              </a:ext>
            </a:extLst>
          </p:cNvPr>
          <p:cNvSpPr txBox="1"/>
          <p:nvPr/>
        </p:nvSpPr>
        <p:spPr>
          <a:xfrm>
            <a:off x="6343689" y="5140650"/>
            <a:ext cx="23939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Suggests crops based on soil, weather, market demand, and MSPs, reducing farmer risk and improving income stability.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04B20D8-D89E-DE68-3EC4-5BE749AF94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9644065" y="3650608"/>
            <a:ext cx="1301859" cy="110701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8D4A4C8-FA1B-3571-8B1E-6331F7CFB0B5}"/>
              </a:ext>
            </a:extLst>
          </p:cNvPr>
          <p:cNvSpPr txBox="1"/>
          <p:nvPr/>
        </p:nvSpPr>
        <p:spPr>
          <a:xfrm>
            <a:off x="8919262" y="4632483"/>
            <a:ext cx="2856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Farmer Community &amp; Expert Connect (future scope)</a:t>
            </a:r>
            <a:endParaRPr lang="en-US" sz="16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ECAB51-BA35-6F73-F57D-3B5EE967D8EC}"/>
              </a:ext>
            </a:extLst>
          </p:cNvPr>
          <p:cNvSpPr txBox="1"/>
          <p:nvPr/>
        </p:nvSpPr>
        <p:spPr>
          <a:xfrm>
            <a:off x="8919262" y="5152884"/>
            <a:ext cx="28170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Enables knowledge sharing among farmers and direct access to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-experts for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425202185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 lvl="0">
              <a:defRPr lang="en-US"/>
            </a:defPPr>
            <a:lvl1pPr marL="0" lv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lvl="1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lvl="2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lvl="3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lvl="4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lvl="5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lvl="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lvl="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lvl="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46">
              <a:defRPr/>
            </a:pPr>
            <a:endParaRPr lang="en-US" sz="180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93495" y="-40941"/>
            <a:ext cx="10972800" cy="1143000"/>
          </a:xfrm>
        </p:spPr>
        <p:txBody>
          <a:bodyPr>
            <a:noAutofit/>
          </a:bodyPr>
          <a:lstStyle>
            <a:defPPr lvl="0">
              <a:defRPr lang="en-US"/>
            </a:defPPr>
            <a:lvl1pPr marL="0" lv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lvl="1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lvl="2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lvl="3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lvl="4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lvl="5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lvl="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lvl="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lvl="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59146" y="1066657"/>
            <a:ext cx="100342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defPPr lvl="0">
              <a:defRPr lang="en-US"/>
            </a:defPPr>
            <a:lvl1pPr marL="0" lv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lvl="1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lvl="2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lvl="3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lvl="4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lvl="5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lvl="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lvl="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lvl="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34" indent="-342934">
              <a:buFont typeface="Wingdings" panose="05000000000000000000" pitchFamily="2" charset="2"/>
              <a:buChar char="v"/>
            </a:pPr>
            <a:r>
              <a:rPr lang="en-US" sz="2400" b="1" u="sng">
                <a:latin typeface="Times New Roman"/>
                <a:ea typeface="ＭＳ Ｐゴシック"/>
                <a:cs typeface="Times New Roman"/>
              </a:rPr>
              <a:t>Comparison</a:t>
            </a:r>
            <a:r>
              <a:rPr lang="en-US" sz="2400" b="1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sz="2400" b="1" u="sng">
                <a:latin typeface="Times New Roman"/>
                <a:ea typeface="ＭＳ Ｐゴシック"/>
                <a:cs typeface="Times New Roman"/>
              </a:rPr>
              <a:t>with</a:t>
            </a:r>
            <a:r>
              <a:rPr lang="en-US" sz="2400" b="1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sz="2400" b="1" u="sng">
                <a:latin typeface="Times New Roman"/>
                <a:ea typeface="ＭＳ Ｐゴシック"/>
                <a:cs typeface="Times New Roman"/>
              </a:rPr>
              <a:t>existing</a:t>
            </a:r>
            <a:r>
              <a:rPr lang="en-US" sz="2400" b="1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sz="2400" b="1" u="sng">
                <a:latin typeface="Times New Roman"/>
                <a:ea typeface="ＭＳ Ｐゴシック"/>
                <a:cs typeface="Times New Roman"/>
              </a:rPr>
              <a:t>systems</a:t>
            </a:r>
            <a:r>
              <a:rPr lang="en-US" sz="2400" b="1">
                <a:latin typeface="Times New Roman"/>
                <a:ea typeface="ＭＳ Ｐゴシック"/>
                <a:cs typeface="Times New Roman"/>
              </a:rPr>
              <a:t>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 lvl="0">
              <a:defRPr lang="en-US"/>
            </a:defPPr>
            <a:lvl1pPr marL="0" lv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lvl="1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lvl="2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lvl="3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lvl="4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lvl="5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lvl="6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lvl="7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lvl="8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46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defTabSz="457246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1200" b="1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5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lvl="1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lvl="2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lvl="3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lvl="4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lvl="5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lvl="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lvl="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lvl="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Kisan Sarthi</a:t>
            </a:r>
            <a:endParaRPr lang="en-IN" sz="180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348822-352A-1010-53A6-5684500C5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52140"/>
              </p:ext>
            </p:extLst>
          </p:nvPr>
        </p:nvGraphicFramePr>
        <p:xfrm>
          <a:off x="5732168" y="1491069"/>
          <a:ext cx="6318312" cy="4779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684">
                  <a:extLst>
                    <a:ext uri="{9D8B030D-6E8A-4147-A177-3AD203B41FA5}">
                      <a16:colId xmlns:a16="http://schemas.microsoft.com/office/drawing/2014/main" val="515653170"/>
                    </a:ext>
                  </a:extLst>
                </a:gridCol>
                <a:gridCol w="906265">
                  <a:extLst>
                    <a:ext uri="{9D8B030D-6E8A-4147-A177-3AD203B41FA5}">
                      <a16:colId xmlns:a16="http://schemas.microsoft.com/office/drawing/2014/main" val="2679447373"/>
                    </a:ext>
                  </a:extLst>
                </a:gridCol>
                <a:gridCol w="750822">
                  <a:extLst>
                    <a:ext uri="{9D8B030D-6E8A-4147-A177-3AD203B41FA5}">
                      <a16:colId xmlns:a16="http://schemas.microsoft.com/office/drawing/2014/main" val="2145629460"/>
                    </a:ext>
                  </a:extLst>
                </a:gridCol>
                <a:gridCol w="1079230">
                  <a:extLst>
                    <a:ext uri="{9D8B030D-6E8A-4147-A177-3AD203B41FA5}">
                      <a16:colId xmlns:a16="http://schemas.microsoft.com/office/drawing/2014/main" val="3023099600"/>
                    </a:ext>
                  </a:extLst>
                </a:gridCol>
                <a:gridCol w="672000">
                  <a:extLst>
                    <a:ext uri="{9D8B030D-6E8A-4147-A177-3AD203B41FA5}">
                      <a16:colId xmlns:a16="http://schemas.microsoft.com/office/drawing/2014/main" val="2314131297"/>
                    </a:ext>
                  </a:extLst>
                </a:gridCol>
                <a:gridCol w="1089311">
                  <a:extLst>
                    <a:ext uri="{9D8B030D-6E8A-4147-A177-3AD203B41FA5}">
                      <a16:colId xmlns:a16="http://schemas.microsoft.com/office/drawing/2014/main" val="3182263566"/>
                    </a:ext>
                  </a:extLst>
                </a:gridCol>
              </a:tblGrid>
              <a:tr h="400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/>
                          <a:cs typeface="Times New Roman"/>
                        </a:rPr>
                        <a:t>Feature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/>
                          <a:cs typeface="Times New Roman"/>
                        </a:rPr>
                        <a:t>Our Model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err="1">
                          <a:latin typeface="Times New Roman"/>
                          <a:cs typeface="Times New Roman"/>
                        </a:rPr>
                        <a:t>CropAIQ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/>
                          <a:cs typeface="Times New Roman"/>
                        </a:rPr>
                        <a:t>Kisan Samadhan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/>
                          <a:cs typeface="Times New Roman"/>
                        </a:rPr>
                        <a:t>Kisan AI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/>
                          <a:cs typeface="Times New Roman"/>
                        </a:rPr>
                        <a:t>Hybrid DL Models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2692344504"/>
                  </a:ext>
                </a:extLst>
              </a:tr>
              <a:tr h="281032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Yield Prediction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2909467136"/>
                  </a:ext>
                </a:extLst>
              </a:tr>
              <a:tr h="34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AI Pest/Disease Detection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0" indent="0">
                        <a:buSzPct val="150000"/>
                        <a:buFont typeface="Wingdings" panose="05000000000000000000" pitchFamily="2" charset="2"/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(Partial)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3124643319"/>
                  </a:ext>
                </a:extLst>
              </a:tr>
              <a:tr h="49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Personalized Scheduling (Calendar)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759548941"/>
                  </a:ext>
                </a:extLst>
              </a:tr>
              <a:tr h="49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Real-time Alerts/Notifications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  <a:endParaRPr lang="en-US" sz="1800"/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3379522825"/>
                  </a:ext>
                </a:extLst>
              </a:tr>
              <a:tr h="34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Multi-language Support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indent="-2857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166469523"/>
                  </a:ext>
                </a:extLst>
              </a:tr>
              <a:tr h="34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Offline / Low-data Mode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4210754330"/>
                  </a:ext>
                </a:extLst>
              </a:tr>
              <a:tr h="34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Cost-benefit Calculator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3961976143"/>
                  </a:ext>
                </a:extLst>
              </a:tr>
              <a:tr h="34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Sustainability Insights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50000"/>
                        <a:buFont typeface="Wingdings" panose="05000000000000000000" pitchFamily="2" charset="2"/>
                        <a:buChar char=""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50000"/>
                        <a:buFont typeface="Wingdings" panose="05000000000000000000" pitchFamily="2" charset="2"/>
                        <a:buChar char=""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50000"/>
                        <a:buFont typeface="Wingdings" panose="05000000000000000000" pitchFamily="2" charset="2"/>
                        <a:buChar char=""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50000"/>
                        <a:buFont typeface="Wingdings" panose="05000000000000000000" pitchFamily="2" charset="2"/>
                        <a:buChar char=""/>
                        <a:tabLst/>
                        <a:defRPr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4275337767"/>
                  </a:ext>
                </a:extLst>
              </a:tr>
              <a:tr h="49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/>
                          <a:cs typeface="Times New Roman"/>
                        </a:rPr>
                        <a:t>Risk-adjusted Crop Suggestions (Market + MSP)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2627662343"/>
                  </a:ext>
                </a:extLst>
              </a:tr>
              <a:tr h="400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Chatbot Advisor (Voice + Text)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0" indent="0">
                        <a:buSzPct val="150000"/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100" b="0" i="0" u="none" strike="noStrike" noProof="0">
                          <a:latin typeface="Times New Roman"/>
                        </a:rPr>
                        <a:t>(Text)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0" indent="0">
                        <a:buSzPct val="150000"/>
                        <a:buNone/>
                      </a:pPr>
                      <a:r>
                        <a:rPr lang="en-IN" sz="1100" b="0" i="0" u="none" strike="noStrike" noProof="0">
                          <a:latin typeface="Times New Roman"/>
                        </a:rPr>
                        <a:t>(Text)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0" indent="0">
                        <a:buSzPct val="150000"/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100" b="0" i="0" u="none" strike="noStrike" noProof="0">
                          <a:latin typeface="Times New Roman"/>
                        </a:rPr>
                        <a:t>(Text)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2519524799"/>
                  </a:ext>
                </a:extLst>
              </a:tr>
              <a:tr h="49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Farmer Community / Expert Connect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ü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(Future Scope)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171450" indent="-1714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0" indent="0">
                        <a:buSzPct val="150000"/>
                        <a:buFont typeface="Wingdings" panose="05000000000000000000" pitchFamily="2" charset="2"/>
                        <a:buNone/>
                      </a:pPr>
                      <a:r>
                        <a:rPr lang="en-US" sz="1100">
                          <a:latin typeface="Times New Roman"/>
                          <a:cs typeface="Times New Roman"/>
                        </a:rPr>
                        <a:t>(Call center support)</a:t>
                      </a:r>
                      <a:endParaRPr lang="en-IN" sz="1100">
                        <a:latin typeface="Times New Roman"/>
                        <a:cs typeface="Times New Roman"/>
                      </a:endParaRP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indent="-2857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tc>
                  <a:txBody>
                    <a:bodyPr/>
                    <a:lstStyle/>
                    <a:p>
                      <a:pPr marL="285750" indent="-285750">
                        <a:buSzPct val="150000"/>
                        <a:buFont typeface="Wingdings" panose="05000000000000000000" pitchFamily="2" charset="2"/>
                        <a:buChar char=""/>
                      </a:pPr>
                      <a:r>
                        <a:rPr lang="en-IN" sz="1100"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54094" marR="54094" marT="27047" marB="27047" anchor="ctr"/>
                </a:tc>
                <a:extLst>
                  <a:ext uri="{0D108BD9-81ED-4DB2-BD59-A6C34878D82A}">
                    <a16:rowId xmlns:a16="http://schemas.microsoft.com/office/drawing/2014/main" val="21177059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8A14BA-61E0-C2C0-B6F2-D41E29F4DFD7}"/>
              </a:ext>
            </a:extLst>
          </p:cNvPr>
          <p:cNvSpPr txBox="1"/>
          <p:nvPr/>
        </p:nvSpPr>
        <p:spPr>
          <a:xfrm>
            <a:off x="108948" y="1104918"/>
            <a:ext cx="778173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lvl="0">
              <a:defRPr lang="en-US"/>
            </a:defPPr>
            <a:lvl1pPr marL="0" lv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lvl="1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lvl="2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lvl="3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lvl="4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lvl="5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lvl="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lvl="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lvl="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34" indent="-342934">
              <a:buFont typeface="Wingdings" panose="05000000000000000000" pitchFamily="2" charset="2"/>
              <a:buChar char="v"/>
            </a:pPr>
            <a:r>
              <a:rPr lang="en-US" sz="2400" b="1" u="sng">
                <a:latin typeface="Times New Roman"/>
                <a:ea typeface="ＭＳ Ｐゴシック"/>
                <a:cs typeface="Times New Roman"/>
              </a:rPr>
              <a:t>References</a:t>
            </a:r>
            <a:r>
              <a:rPr lang="en-US" sz="2400" b="1">
                <a:latin typeface="Times New Roman"/>
                <a:ea typeface="ＭＳ Ｐゴシック"/>
                <a:cs typeface="Times New Roman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1073A3-4272-0FD4-089D-C2E21C196A4F}"/>
              </a:ext>
            </a:extLst>
          </p:cNvPr>
          <p:cNvSpPr txBox="1"/>
          <p:nvPr/>
        </p:nvSpPr>
        <p:spPr>
          <a:xfrm>
            <a:off x="141515" y="1576125"/>
            <a:ext cx="5417632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lvl="0">
              <a:defRPr lang="en-US"/>
            </a:defPPr>
            <a:lvl1pPr marL="0" lv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lvl="1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lvl="2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lvl="3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lvl="4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lvl="5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lvl="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lvl="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lvl="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"/>
            </a:pPr>
            <a:r>
              <a:rPr lang="en-US" sz="1800" b="1">
                <a:latin typeface="Times New Roman"/>
                <a:ea typeface="ＭＳ Ｐゴシック"/>
                <a:cs typeface="Times New Roman"/>
              </a:rPr>
              <a:t>Existing Agri-Tech Platforms:</a:t>
            </a:r>
            <a:endParaRPr lang="en-US" sz="1800">
              <a:latin typeface="Times New Roman"/>
              <a:ea typeface="ＭＳ Ｐゴシック"/>
              <a:cs typeface="Times New Roman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4"/>
              </a:rPr>
              <a:t>CropAIQ</a:t>
            </a:r>
            <a:r>
              <a:rPr lang="en-US" sz="1600">
                <a:latin typeface="Times New Roman"/>
                <a:ea typeface="ＭＳ Ｐゴシック"/>
                <a:cs typeface="Times New Roman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5"/>
              </a:rPr>
              <a:t>Kisan Samadhan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6"/>
              </a:rPr>
              <a:t>Kisan AI​</a:t>
            </a:r>
            <a:r>
              <a:rPr lang="en-US" sz="1600">
                <a:latin typeface="Times New Roman"/>
                <a:ea typeface="ＭＳ Ｐゴシック"/>
                <a:cs typeface="Times New Roman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</a:rPr>
              <a:t>Hybrid Deep Learning Models in Agriculture: </a:t>
            </a:r>
            <a:br>
              <a:rPr lang="en-US" sz="1600">
                <a:latin typeface="Times New Roman"/>
                <a:ea typeface="ＭＳ Ｐゴシック"/>
                <a:cs typeface="Times New Roman"/>
              </a:rPr>
            </a:br>
            <a:r>
              <a:rPr lang="en-US" sz="1600">
                <a:latin typeface="Times New Roman"/>
                <a:ea typeface="ＭＳ Ｐゴシック"/>
                <a:cs typeface="Times New Roman"/>
              </a:rPr>
              <a:t>IEEE, Springer (Research Articles)</a:t>
            </a:r>
            <a:endParaRPr lang="en-US" sz="1800">
              <a:latin typeface="Times New Roman"/>
              <a:ea typeface="ＭＳ Ｐゴシック"/>
              <a:cs typeface="Times New Roman"/>
            </a:endParaRPr>
          </a:p>
          <a:p>
            <a:pPr marL="285750" indent="-285750">
              <a:buFont typeface="Wingdings" panose="05000000000000000000" pitchFamily="2" charset="2"/>
              <a:buChar char=""/>
            </a:pPr>
            <a:r>
              <a:rPr lang="en-US" sz="1800" b="1">
                <a:latin typeface="Times New Roman"/>
                <a:ea typeface="ＭＳ Ｐゴシック"/>
                <a:cs typeface="Times New Roman"/>
              </a:rPr>
              <a:t>Research &amp; Best Practices:</a:t>
            </a:r>
            <a:endParaRPr lang="en-US" sz="1800">
              <a:latin typeface="Times New Roman"/>
              <a:ea typeface="ＭＳ Ｐゴシック"/>
              <a:cs typeface="Times New Roman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7"/>
              </a:rPr>
              <a:t>AI in Agriculture</a:t>
            </a:r>
            <a:endParaRPr lang="en-US" sz="1600">
              <a:latin typeface="Times New Roman"/>
              <a:ea typeface="ＭＳ Ｐゴシック"/>
              <a:cs typeface="Times New Roman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8"/>
              </a:rPr>
              <a:t>Machine Learning for Crop Yield Prediction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9"/>
              </a:rPr>
              <a:t>Pest/Disease Detection using Deep Learning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  <a:hlinkClick r:id="rId10"/>
              </a:rPr>
              <a:t>Precision Agriculture and IoT</a:t>
            </a:r>
            <a:endParaRPr lang="en-US" sz="1600">
              <a:latin typeface="Times New Roman"/>
              <a:ea typeface="ＭＳ Ｐゴシック"/>
              <a:cs typeface="Times New Roman"/>
            </a:endParaRPr>
          </a:p>
          <a:p>
            <a:pPr marL="285750" indent="-285750">
              <a:buFont typeface="Wingdings" panose="05000000000000000000" pitchFamily="2" charset="2"/>
              <a:buChar char=""/>
            </a:pPr>
            <a:r>
              <a:rPr lang="en-US" sz="1800" b="1">
                <a:latin typeface="Times New Roman"/>
                <a:ea typeface="ＭＳ Ｐゴシック"/>
                <a:cs typeface="Times New Roman"/>
              </a:rPr>
              <a:t>Feasibility Facts:</a:t>
            </a:r>
            <a:endParaRPr lang="en-US" sz="1800">
              <a:latin typeface="Times New Roman"/>
              <a:ea typeface="ＭＳ Ｐゴシック"/>
              <a:cs typeface="Times New Roman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</a:rPr>
              <a:t>ICAR (Indian Council of Agricultural Research) Reports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</a:rPr>
              <a:t>FAO (Food and Agriculture Organization) Crop Statistics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</a:rPr>
              <a:t>IMD (India Meteorological Department) Weather API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ea typeface="ＭＳ Ｐゴシック"/>
                <a:cs typeface="Times New Roman"/>
              </a:rPr>
              <a:t>Govt. of Odisha – Department of Electronics &amp; IT</a:t>
            </a:r>
          </a:p>
        </p:txBody>
      </p:sp>
    </p:spTree>
    <p:extLst>
      <p:ext uri="{BB962C8B-B14F-4D97-AF65-F5344CB8AC3E}">
        <p14:creationId xmlns:p14="http://schemas.microsoft.com/office/powerpoint/2010/main" val="109216296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Microsoft Office PowerPoint</Application>
  <PresentationFormat>Widescreen</PresentationFormat>
  <Paragraphs>234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Garv Pathak</cp:lastModifiedBy>
  <cp:revision>3</cp:revision>
  <dcterms:created xsi:type="dcterms:W3CDTF">2013-12-12T18:46:50Z</dcterms:created>
  <dcterms:modified xsi:type="dcterms:W3CDTF">2026-01-02T08:54:45Z</dcterms:modified>
  <cp:category/>
</cp:coreProperties>
</file>